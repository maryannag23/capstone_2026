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85" r:id="rId7"/>
    <p:sldId id="288" r:id="rId8"/>
    <p:sldId id="262" r:id="rId9"/>
    <p:sldId id="286" r:id="rId10"/>
    <p:sldId id="289" r:id="rId11"/>
    <p:sldId id="295" r:id="rId12"/>
    <p:sldId id="291" r:id="rId13"/>
    <p:sldId id="294" r:id="rId14"/>
    <p:sldId id="290" r:id="rId15"/>
    <p:sldId id="292" r:id="rId16"/>
    <p:sldId id="293" r:id="rId17"/>
    <p:sldId id="287" r:id="rId18"/>
    <p:sldId id="275" r:id="rId19"/>
    <p:sldId id="281" r:id="rId20"/>
  </p:sldIdLst>
  <p:sldSz cx="12192000" cy="6858000"/>
  <p:notesSz cx="6858000" cy="9144000"/>
  <p:embeddedFontLst>
    <p:embeddedFont>
      <p:font typeface="Aptos Narrow" panose="020B0004020202020204" pitchFamily="34" charset="0"/>
      <p:regular r:id="rId22"/>
      <p:bold r:id="rId23"/>
      <p:italic r:id="rId24"/>
      <p:boldItalic r:id="rId25"/>
    </p:embeddedFont>
    <p:embeddedFont>
      <p:font typeface="Poppins" pitchFamily="2" charset="77"/>
      <p:regular r:id="rId26"/>
      <p:bold r:id="rId27"/>
      <p:italic r:id="rId28"/>
      <p:boldItalic r:id="rId29"/>
    </p:embeddedFont>
    <p:embeddedFont>
      <p:font typeface="Poppins ExtraBold" panose="00000900000000000000"/>
      <p:bold r:id="rId30"/>
      <p:italic r:id="rId31"/>
      <p:boldItalic r:id="rId32"/>
    </p:embeddedFont>
    <p:embeddedFont>
      <p:font typeface="Poppins Light" panose="0000040000000000000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3DE5AE-175F-C639-5C57-ECBC5A419EA7}" name="Mary Anna Garifo" initials="MG" userId="837194fbad03695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1F48"/>
    <a:srgbClr val="FFB093"/>
    <a:srgbClr val="FCEDDF"/>
    <a:srgbClr val="FFB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3038BF-ECFE-4FEC-8A85-E7061CC62139}">
  <a:tblStyle styleId="{433038BF-ECFE-4FEC-8A85-E7061CC621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61"/>
    <p:restoredTop sz="84810"/>
  </p:normalViewPr>
  <p:slideViewPr>
    <p:cSldViewPr snapToGrid="0">
      <p:cViewPr>
        <p:scale>
          <a:sx n="111" d="100"/>
          <a:sy n="111" d="100"/>
        </p:scale>
        <p:origin x="48" y="-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/maryannagarifo/Desktop/DA%20Bootcamp/Capstone/marketing_campaign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Cleaned_Data!$C$2:$C$2241</cx:f>
        <cx:lvl ptCount="486" formatCode="General">
          <cx:pt idx="0">26</cx:pt>
          <cx:pt idx="1">85</cx:pt>
          <cx:pt idx="2">84</cx:pt>
          <cx:pt idx="3">82</cx:pt>
          <cx:pt idx="4">82</cx:pt>
          <cx:pt idx="5">82</cx:pt>
          <cx:pt idx="6">82</cx:pt>
          <cx:pt idx="7">81</cx:pt>
          <cx:pt idx="8">81</cx:pt>
          <cx:pt idx="9">80</cx:pt>
          <cx:pt idx="10">80</cx:pt>
          <cx:pt idx="11">80</cx:pt>
          <cx:pt idx="12">80</cx:pt>
          <cx:pt idx="13">80</cx:pt>
          <cx:pt idx="14">79</cx:pt>
          <cx:pt idx="15">79</cx:pt>
          <cx:pt idx="16">79</cx:pt>
          <cx:pt idx="17">79</cx:pt>
          <cx:pt idx="18">79</cx:pt>
          <cx:pt idx="19">79</cx:pt>
          <cx:pt idx="20">79</cx:pt>
          <cx:pt idx="21">79</cx:pt>
          <cx:pt idx="22">78</cx:pt>
          <cx:pt idx="23">78</cx:pt>
          <cx:pt idx="24">78</cx:pt>
          <cx:pt idx="25">78</cx:pt>
          <cx:pt idx="26">78</cx:pt>
          <cx:pt idx="27">78</cx:pt>
          <cx:pt idx="28">77</cx:pt>
          <cx:pt idx="29">77</cx:pt>
          <cx:pt idx="30">77</cx:pt>
          <cx:pt idx="31">77</cx:pt>
          <cx:pt idx="32">77</cx:pt>
          <cx:pt idx="33">77</cx:pt>
          <cx:pt idx="34">77</cx:pt>
          <cx:pt idx="35">77</cx:pt>
          <cx:pt idx="36">77</cx:pt>
          <cx:pt idx="37">77</cx:pt>
          <cx:pt idx="38">77</cx:pt>
          <cx:pt idx="39">77</cx:pt>
          <cx:pt idx="40">77</cx:pt>
          <cx:pt idx="41">76</cx:pt>
          <cx:pt idx="42">76</cx:pt>
          <cx:pt idx="43">76</cx:pt>
          <cx:pt idx="44">76</cx:pt>
          <cx:pt idx="45">76</cx:pt>
          <cx:pt idx="46">76</cx:pt>
          <cx:pt idx="47">76</cx:pt>
          <cx:pt idx="48">76</cx:pt>
          <cx:pt idx="49">76</cx:pt>
          <cx:pt idx="50">76</cx:pt>
          <cx:pt idx="51">75</cx:pt>
          <cx:pt idx="52">75</cx:pt>
          <cx:pt idx="53">75</cx:pt>
          <cx:pt idx="54">75</cx:pt>
          <cx:pt idx="55">75</cx:pt>
          <cx:pt idx="56">75</cx:pt>
          <cx:pt idx="57">75</cx:pt>
          <cx:pt idx="58">75</cx:pt>
          <cx:pt idx="59">75</cx:pt>
          <cx:pt idx="60">75</cx:pt>
          <cx:pt idx="61">75</cx:pt>
          <cx:pt idx="62">75</cx:pt>
          <cx:pt idx="63">75</cx:pt>
          <cx:pt idx="64">75</cx:pt>
          <cx:pt idx="65">74</cx:pt>
          <cx:pt idx="66">74</cx:pt>
          <cx:pt idx="67">74</cx:pt>
          <cx:pt idx="68">74</cx:pt>
          <cx:pt idx="69">74</cx:pt>
          <cx:pt idx="70">73</cx:pt>
          <cx:pt idx="71">73</cx:pt>
          <cx:pt idx="72">73</cx:pt>
          <cx:pt idx="73">73</cx:pt>
          <cx:pt idx="74">73</cx:pt>
          <cx:pt idx="75">73</cx:pt>
          <cx:pt idx="76">73</cx:pt>
          <cx:pt idx="77">73</cx:pt>
          <cx:pt idx="78">72</cx:pt>
          <cx:pt idx="79">72</cx:pt>
          <cx:pt idx="80">72</cx:pt>
          <cx:pt idx="81">72</cx:pt>
          <cx:pt idx="82">72</cx:pt>
          <cx:pt idx="83">72</cx:pt>
          <cx:pt idx="84">72</cx:pt>
          <cx:pt idx="85">71</cx:pt>
          <cx:pt idx="86">71</cx:pt>
          <cx:pt idx="87">71</cx:pt>
          <cx:pt idx="88">71</cx:pt>
          <cx:pt idx="89">71</cx:pt>
          <cx:pt idx="90">71</cx:pt>
          <cx:pt idx="91">71</cx:pt>
          <cx:pt idx="92">71</cx:pt>
          <cx:pt idx="93">71</cx:pt>
          <cx:pt idx="94">71</cx:pt>
          <cx:pt idx="95">71</cx:pt>
          <cx:pt idx="96">70</cx:pt>
          <cx:pt idx="97">70</cx:pt>
          <cx:pt idx="98">70</cx:pt>
          <cx:pt idx="99">70</cx:pt>
          <cx:pt idx="100">70</cx:pt>
          <cx:pt idx="101">70</cx:pt>
          <cx:pt idx="102">70</cx:pt>
          <cx:pt idx="103">70</cx:pt>
          <cx:pt idx="104">70</cx:pt>
          <cx:pt idx="105">70</cx:pt>
          <cx:pt idx="106">70</cx:pt>
          <cx:pt idx="107">69</cx:pt>
          <cx:pt idx="108">69</cx:pt>
          <cx:pt idx="109">69</cx:pt>
          <cx:pt idx="110">69</cx:pt>
          <cx:pt idx="111">69</cx:pt>
          <cx:pt idx="112">69</cx:pt>
          <cx:pt idx="113">69</cx:pt>
          <cx:pt idx="114">68</cx:pt>
          <cx:pt idx="115">68</cx:pt>
          <cx:pt idx="116">68</cx:pt>
          <cx:pt idx="117">68</cx:pt>
          <cx:pt idx="118">68</cx:pt>
          <cx:pt idx="119">68</cx:pt>
          <cx:pt idx="120">68</cx:pt>
          <cx:pt idx="121">68</cx:pt>
          <cx:pt idx="122">68</cx:pt>
          <cx:pt idx="123">68</cx:pt>
          <cx:pt idx="124">67</cx:pt>
          <cx:pt idx="125">67</cx:pt>
          <cx:pt idx="126">67</cx:pt>
          <cx:pt idx="127">67</cx:pt>
          <cx:pt idx="128">67</cx:pt>
          <cx:pt idx="129">67</cx:pt>
          <cx:pt idx="130">67</cx:pt>
          <cx:pt idx="131">67</cx:pt>
          <cx:pt idx="132">67</cx:pt>
          <cx:pt idx="133">67</cx:pt>
          <cx:pt idx="134">67</cx:pt>
          <cx:pt idx="135">67</cx:pt>
          <cx:pt idx="136">67</cx:pt>
          <cx:pt idx="137">67</cx:pt>
          <cx:pt idx="138">66</cx:pt>
          <cx:pt idx="139">66</cx:pt>
          <cx:pt idx="140">66</cx:pt>
          <cx:pt idx="141">66</cx:pt>
          <cx:pt idx="142">66</cx:pt>
          <cx:pt idx="143">66</cx:pt>
          <cx:pt idx="144">66</cx:pt>
          <cx:pt idx="145">66</cx:pt>
          <cx:pt idx="146">66</cx:pt>
          <cx:pt idx="147">66</cx:pt>
          <cx:pt idx="148">66</cx:pt>
          <cx:pt idx="149">65</cx:pt>
          <cx:pt idx="150">65</cx:pt>
          <cx:pt idx="151">65</cx:pt>
          <cx:pt idx="152">65</cx:pt>
          <cx:pt idx="153">65</cx:pt>
          <cx:pt idx="154">65</cx:pt>
          <cx:pt idx="155">65</cx:pt>
          <cx:pt idx="156">64</cx:pt>
          <cx:pt idx="157">64</cx:pt>
          <cx:pt idx="158">64</cx:pt>
          <cx:pt idx="159">64</cx:pt>
          <cx:pt idx="160">64</cx:pt>
          <cx:pt idx="161">64</cx:pt>
          <cx:pt idx="162">64</cx:pt>
          <cx:pt idx="163">64</cx:pt>
          <cx:pt idx="164">64</cx:pt>
          <cx:pt idx="165">64</cx:pt>
          <cx:pt idx="166">63</cx:pt>
          <cx:pt idx="167">63</cx:pt>
          <cx:pt idx="168">63</cx:pt>
          <cx:pt idx="169">63</cx:pt>
          <cx:pt idx="170">63</cx:pt>
          <cx:pt idx="171">63</cx:pt>
          <cx:pt idx="172">63</cx:pt>
          <cx:pt idx="173">63</cx:pt>
          <cx:pt idx="174">63</cx:pt>
          <cx:pt idx="175">63</cx:pt>
          <cx:pt idx="176">63</cx:pt>
          <cx:pt idx="177">63</cx:pt>
          <cx:pt idx="178">62</cx:pt>
          <cx:pt idx="179">62</cx:pt>
          <cx:pt idx="180">62</cx:pt>
          <cx:pt idx="181">62</cx:pt>
          <cx:pt idx="182">62</cx:pt>
          <cx:pt idx="183">62</cx:pt>
          <cx:pt idx="184">62</cx:pt>
          <cx:pt idx="185">62</cx:pt>
          <cx:pt idx="186">62</cx:pt>
          <cx:pt idx="187">62</cx:pt>
          <cx:pt idx="188">62</cx:pt>
          <cx:pt idx="189">62</cx:pt>
          <cx:pt idx="190">62</cx:pt>
          <cx:pt idx="191">62</cx:pt>
          <cx:pt idx="192">62</cx:pt>
          <cx:pt idx="193">62</cx:pt>
          <cx:pt idx="194">61</cx:pt>
          <cx:pt idx="195">61</cx:pt>
          <cx:pt idx="196">61</cx:pt>
          <cx:pt idx="197">61</cx:pt>
          <cx:pt idx="198">61</cx:pt>
          <cx:pt idx="199">61</cx:pt>
          <cx:pt idx="200">61</cx:pt>
          <cx:pt idx="201">61</cx:pt>
          <cx:pt idx="202">61</cx:pt>
          <cx:pt idx="203">61</cx:pt>
          <cx:pt idx="204">61</cx:pt>
          <cx:pt idx="205">61</cx:pt>
          <cx:pt idx="206">60</cx:pt>
          <cx:pt idx="207">60</cx:pt>
          <cx:pt idx="208">60</cx:pt>
          <cx:pt idx="209">60</cx:pt>
          <cx:pt idx="210">60</cx:pt>
          <cx:pt idx="211">60</cx:pt>
          <cx:pt idx="212">60</cx:pt>
          <cx:pt idx="213">60</cx:pt>
          <cx:pt idx="214">60</cx:pt>
          <cx:pt idx="215">60</cx:pt>
          <cx:pt idx="216">60</cx:pt>
          <cx:pt idx="217">60</cx:pt>
          <cx:pt idx="218">60</cx:pt>
          <cx:pt idx="219">60</cx:pt>
          <cx:pt idx="220">60</cx:pt>
          <cx:pt idx="221">60</cx:pt>
          <cx:pt idx="222">60</cx:pt>
          <cx:pt idx="223">59</cx:pt>
          <cx:pt idx="224">59</cx:pt>
          <cx:pt idx="225">59</cx:pt>
          <cx:pt idx="226">59</cx:pt>
          <cx:pt idx="227">59</cx:pt>
          <cx:pt idx="228">59</cx:pt>
          <cx:pt idx="229">59</cx:pt>
          <cx:pt idx="230">59</cx:pt>
          <cx:pt idx="231">59</cx:pt>
          <cx:pt idx="232">59</cx:pt>
          <cx:pt idx="233">58</cx:pt>
          <cx:pt idx="234">58</cx:pt>
          <cx:pt idx="235">58</cx:pt>
          <cx:pt idx="236">58</cx:pt>
          <cx:pt idx="237">58</cx:pt>
          <cx:pt idx="238">58</cx:pt>
          <cx:pt idx="239">58</cx:pt>
          <cx:pt idx="240">58</cx:pt>
          <cx:pt idx="241">58</cx:pt>
          <cx:pt idx="242">58</cx:pt>
          <cx:pt idx="243">58</cx:pt>
          <cx:pt idx="244">58</cx:pt>
          <cx:pt idx="245">57</cx:pt>
          <cx:pt idx="246">57</cx:pt>
          <cx:pt idx="247">57</cx:pt>
          <cx:pt idx="248">57</cx:pt>
          <cx:pt idx="249">57</cx:pt>
          <cx:pt idx="250">57</cx:pt>
          <cx:pt idx="251">57</cx:pt>
          <cx:pt idx="252">57</cx:pt>
          <cx:pt idx="253">57</cx:pt>
          <cx:pt idx="254">57</cx:pt>
          <cx:pt idx="255">57</cx:pt>
          <cx:pt idx="256">56</cx:pt>
          <cx:pt idx="257">56</cx:pt>
          <cx:pt idx="258">56</cx:pt>
          <cx:pt idx="259">56</cx:pt>
          <cx:pt idx="260">56</cx:pt>
          <cx:pt idx="261">56</cx:pt>
          <cx:pt idx="262">56</cx:pt>
          <cx:pt idx="263">56</cx:pt>
          <cx:pt idx="264">56</cx:pt>
          <cx:pt idx="265">56</cx:pt>
          <cx:pt idx="266">56</cx:pt>
          <cx:pt idx="267">56</cx:pt>
          <cx:pt idx="268">56</cx:pt>
          <cx:pt idx="269">56</cx:pt>
          <cx:pt idx="270">56</cx:pt>
          <cx:pt idx="271">56</cx:pt>
          <cx:pt idx="272">55</cx:pt>
          <cx:pt idx="273">55</cx:pt>
          <cx:pt idx="274">55</cx:pt>
          <cx:pt idx="275">55</cx:pt>
          <cx:pt idx="276">55</cx:pt>
          <cx:pt idx="277">55</cx:pt>
          <cx:pt idx="278">55</cx:pt>
          <cx:pt idx="279">55</cx:pt>
          <cx:pt idx="280">55</cx:pt>
          <cx:pt idx="281">55</cx:pt>
          <cx:pt idx="282">55</cx:pt>
          <cx:pt idx="283">55</cx:pt>
          <cx:pt idx="284">55</cx:pt>
          <cx:pt idx="285">55</cx:pt>
          <cx:pt idx="286">55</cx:pt>
          <cx:pt idx="287">55</cx:pt>
          <cx:pt idx="288">55</cx:pt>
          <cx:pt idx="289">54</cx:pt>
          <cx:pt idx="290">54</cx:pt>
          <cx:pt idx="291">54</cx:pt>
          <cx:pt idx="292">54</cx:pt>
          <cx:pt idx="293">54</cx:pt>
          <cx:pt idx="294">54</cx:pt>
          <cx:pt idx="295">54</cx:pt>
          <cx:pt idx="296">54</cx:pt>
          <cx:pt idx="297">54</cx:pt>
          <cx:pt idx="298">54</cx:pt>
          <cx:pt idx="299">54</cx:pt>
          <cx:pt idx="300">54</cx:pt>
          <cx:pt idx="301">54</cx:pt>
          <cx:pt idx="302">54</cx:pt>
          <cx:pt idx="303">54</cx:pt>
          <cx:pt idx="304">54</cx:pt>
          <cx:pt idx="305">54</cx:pt>
          <cx:pt idx="306">54</cx:pt>
          <cx:pt idx="307">53</cx:pt>
          <cx:pt idx="308">53</cx:pt>
          <cx:pt idx="309">53</cx:pt>
          <cx:pt idx="310">53</cx:pt>
          <cx:pt idx="311">53</cx:pt>
          <cx:pt idx="312">53</cx:pt>
          <cx:pt idx="313">53</cx:pt>
          <cx:pt idx="314">53</cx:pt>
          <cx:pt idx="315">53</cx:pt>
          <cx:pt idx="316">53</cx:pt>
          <cx:pt idx="317">53</cx:pt>
          <cx:pt idx="318">53</cx:pt>
          <cx:pt idx="319">53</cx:pt>
          <cx:pt idx="320">53</cx:pt>
          <cx:pt idx="321">53</cx:pt>
          <cx:pt idx="322">53</cx:pt>
          <cx:pt idx="323">53</cx:pt>
          <cx:pt idx="324">53</cx:pt>
          <cx:pt idx="325">53</cx:pt>
          <cx:pt idx="326">53</cx:pt>
          <cx:pt idx="327">53</cx:pt>
          <cx:pt idx="328">52</cx:pt>
          <cx:pt idx="329">52</cx:pt>
          <cx:pt idx="330">52</cx:pt>
          <cx:pt idx="331">52</cx:pt>
          <cx:pt idx="332">52</cx:pt>
          <cx:pt idx="333">52</cx:pt>
          <cx:pt idx="334">52</cx:pt>
          <cx:pt idx="335">52</cx:pt>
          <cx:pt idx="336">52</cx:pt>
          <cx:pt idx="337">52</cx:pt>
          <cx:pt idx="338">52</cx:pt>
          <cx:pt idx="339">52</cx:pt>
          <cx:pt idx="340">52</cx:pt>
          <cx:pt idx="341">52</cx:pt>
          <cx:pt idx="342">52</cx:pt>
          <cx:pt idx="343">52</cx:pt>
          <cx:pt idx="344">52</cx:pt>
          <cx:pt idx="345">52</cx:pt>
          <cx:pt idx="346">52</cx:pt>
          <cx:pt idx="347">52</cx:pt>
          <cx:pt idx="348">51</cx:pt>
          <cx:pt idx="349">51</cx:pt>
          <cx:pt idx="350">51</cx:pt>
          <cx:pt idx="351">51</cx:pt>
          <cx:pt idx="352">51</cx:pt>
          <cx:pt idx="353">51</cx:pt>
          <cx:pt idx="354">51</cx:pt>
          <cx:pt idx="355">51</cx:pt>
          <cx:pt idx="356">51</cx:pt>
          <cx:pt idx="357">51</cx:pt>
          <cx:pt idx="358">51</cx:pt>
          <cx:pt idx="359">51</cx:pt>
          <cx:pt idx="360">51</cx:pt>
          <cx:pt idx="361">51</cx:pt>
          <cx:pt idx="362">51</cx:pt>
          <cx:pt idx="363">51</cx:pt>
          <cx:pt idx="364">51</cx:pt>
          <cx:pt idx="365">51</cx:pt>
          <cx:pt idx="366">51</cx:pt>
          <cx:pt idx="367">51</cx:pt>
          <cx:pt idx="368">51</cx:pt>
          <cx:pt idx="369">51</cx:pt>
          <cx:pt idx="370">51</cx:pt>
          <cx:pt idx="371">51</cx:pt>
          <cx:pt idx="372">50</cx:pt>
          <cx:pt idx="373">50</cx:pt>
          <cx:pt idx="374">50</cx:pt>
          <cx:pt idx="375">50</cx:pt>
          <cx:pt idx="376">50</cx:pt>
          <cx:pt idx="377">50</cx:pt>
          <cx:pt idx="378">50</cx:pt>
          <cx:pt idx="379">50</cx:pt>
          <cx:pt idx="380">50</cx:pt>
          <cx:pt idx="381">50</cx:pt>
          <cx:pt idx="382">50</cx:pt>
          <cx:pt idx="383">50</cx:pt>
          <cx:pt idx="384">50</cx:pt>
          <cx:pt idx="385">50</cx:pt>
          <cx:pt idx="386">50</cx:pt>
          <cx:pt idx="387">49</cx:pt>
          <cx:pt idx="388">49</cx:pt>
          <cx:pt idx="389">49</cx:pt>
          <cx:pt idx="390">49</cx:pt>
          <cx:pt idx="391">49</cx:pt>
          <cx:pt idx="392">49</cx:pt>
          <cx:pt idx="393">49</cx:pt>
          <cx:pt idx="394">49</cx:pt>
          <cx:pt idx="395">49</cx:pt>
          <cx:pt idx="396">49</cx:pt>
          <cx:pt idx="397">49</cx:pt>
          <cx:pt idx="398">49</cx:pt>
          <cx:pt idx="399">49</cx:pt>
          <cx:pt idx="400">49</cx:pt>
          <cx:pt idx="401">49</cx:pt>
          <cx:pt idx="402">49</cx:pt>
          <cx:pt idx="403">49</cx:pt>
          <cx:pt idx="404">48</cx:pt>
          <cx:pt idx="405">48</cx:pt>
          <cx:pt idx="406">48</cx:pt>
          <cx:pt idx="407">48</cx:pt>
          <cx:pt idx="408">48</cx:pt>
          <cx:pt idx="409">48</cx:pt>
          <cx:pt idx="410">47</cx:pt>
          <cx:pt idx="411">47</cx:pt>
          <cx:pt idx="412">47</cx:pt>
          <cx:pt idx="413">47</cx:pt>
          <cx:pt idx="414">47</cx:pt>
          <cx:pt idx="415">47</cx:pt>
          <cx:pt idx="416">47</cx:pt>
          <cx:pt idx="417">47</cx:pt>
          <cx:pt idx="418">47</cx:pt>
          <cx:pt idx="419">47</cx:pt>
          <cx:pt idx="420">46</cx:pt>
          <cx:pt idx="421">46</cx:pt>
          <cx:pt idx="422">45</cx:pt>
          <cx:pt idx="423">45</cx:pt>
          <cx:pt idx="424">45</cx:pt>
          <cx:pt idx="425">45</cx:pt>
          <cx:pt idx="426">45</cx:pt>
          <cx:pt idx="427">44</cx:pt>
          <cx:pt idx="428">44</cx:pt>
          <cx:pt idx="429">44</cx:pt>
          <cx:pt idx="430">44</cx:pt>
          <cx:pt idx="431">44</cx:pt>
          <cx:pt idx="432">44</cx:pt>
          <cx:pt idx="433">44</cx:pt>
          <cx:pt idx="434">43</cx:pt>
          <cx:pt idx="435">43</cx:pt>
          <cx:pt idx="436">43</cx:pt>
          <cx:pt idx="437">43</cx:pt>
          <cx:pt idx="438">43</cx:pt>
          <cx:pt idx="439">43</cx:pt>
          <cx:pt idx="440">43</cx:pt>
          <cx:pt idx="441">42</cx:pt>
          <cx:pt idx="442">42</cx:pt>
          <cx:pt idx="443">42</cx:pt>
          <cx:pt idx="444">42</cx:pt>
          <cx:pt idx="445">42</cx:pt>
          <cx:pt idx="446">42</cx:pt>
          <cx:pt idx="447">42</cx:pt>
          <cx:pt idx="448">42</cx:pt>
          <cx:pt idx="449">42</cx:pt>
          <cx:pt idx="450">42</cx:pt>
          <cx:pt idx="451">41</cx:pt>
          <cx:pt idx="452">41</cx:pt>
          <cx:pt idx="453">41</cx:pt>
          <cx:pt idx="454">41</cx:pt>
          <cx:pt idx="455">41</cx:pt>
          <cx:pt idx="456">41</cx:pt>
          <cx:pt idx="457">41</cx:pt>
          <cx:pt idx="458">41</cx:pt>
          <cx:pt idx="459">40</cx:pt>
          <cx:pt idx="460">40</cx:pt>
          <cx:pt idx="461">40</cx:pt>
          <cx:pt idx="462">40</cx:pt>
          <cx:pt idx="463">40</cx:pt>
          <cx:pt idx="464">39</cx:pt>
          <cx:pt idx="465">39</cx:pt>
          <cx:pt idx="466">39</cx:pt>
          <cx:pt idx="467">39</cx:pt>
          <cx:pt idx="468">39</cx:pt>
          <cx:pt idx="469">39</cx:pt>
          <cx:pt idx="470">39</cx:pt>
          <cx:pt idx="471">38</cx:pt>
          <cx:pt idx="472">38</cx:pt>
          <cx:pt idx="473">38</cx:pt>
          <cx:pt idx="474">38</cx:pt>
          <cx:pt idx="475">38</cx:pt>
          <cx:pt idx="476">37</cx:pt>
          <cx:pt idx="477">37</cx:pt>
          <cx:pt idx="478">36</cx:pt>
          <cx:pt idx="479">36</cx:pt>
          <cx:pt idx="480">36</cx:pt>
          <cx:pt idx="481">36</cx:pt>
          <cx:pt idx="482">35</cx:pt>
          <cx:pt idx="483">34</cx:pt>
          <cx:pt idx="484">34</cx:pt>
          <cx:pt idx="485">34</cx:pt>
        </cx:lvl>
      </cx:numDim>
    </cx:data>
  </cx:chartData>
  <cx:chart>
    <cx:title pos="t" align="ctr" overlay="0">
      <cx:tx>
        <cx:txData>
          <cx:v>Age Histogram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chemeClr val="tx2"/>
              </a:solidFill>
              <a:latin typeface="Aptos Narrow" panose="02110004020202020204"/>
            </a:rPr>
            <a:t>Age Histogram</a:t>
          </a:r>
        </a:p>
      </cx:txPr>
    </cx:title>
    <cx:plotArea>
      <cx:plotAreaRegion>
        <cx:series layoutId="clusteredColumn" uniqueId="{F80E18A0-A060-1D4D-8C3F-C663B34594EA}">
          <cx:tx>
            <cx:txData>
              <cx:f>Cleaned_Data!$C$1</cx:f>
              <cx:v>Age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  <cx:spPr>
    <a:solidFill>
      <a:srgbClr val="481F48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71">
  <cs:axisTitle>
    <cs:lnRef idx="0"/>
    <cs:fillRef idx="0"/>
    <cs:effectRef idx="0"/>
    <cs:fontRef idx="minor">
      <a:schemeClr val="lt1"/>
    </cs:fontRef>
    <cs:defRPr sz="1197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/>
    <cs:bodyPr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/>
  </cs:chartArea>
  <cs:dataLabel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  <a:ln w="9525">
        <a:solidFill>
          <a:schemeClr val="tx1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/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lt1">
            <a:alpha val="2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/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/>
    <cs:bodyPr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1995" b="1" cap="all" spc="100"/>
    <cs:bodyPr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lt1"/>
        </a:solidFill>
        <a:prstDash val="sysDash"/>
      </a:ln>
    </cs:spPr>
  </cs:trendline>
  <cs:trendlineLabel>
    <cs:lnRef idx="0"/>
    <cs:fillRef idx="0"/>
    <cs:effectRef idx="0"/>
    <cs:fontRef idx="minor">
      <a:schemeClr val="lt1"/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lt1"/>
    </cs:fontRef>
    <cs:defRPr sz="1197"/>
    <cs:bodyPr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1" name="Google Shape;5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eb2014fdb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7" name="Google Shape;517;g1eb2014fdb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eb2014fdb4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8" name="Google Shape;528;g1eb2014fdb4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1" name="Google Shape;551;g1eb2014fdb4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eb205fd2b6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3" name="Google Shape;623;g1eb205fd2b6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1C805C7D-95F0-6B33-C3AA-19F5F3F8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2C6AA678-015E-ECFA-24F3-D483EC94A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D68E059B-F27E-3F83-F803-3CFFC0568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9232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CBF7A29A-A1A8-3DBB-752B-E48F9108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eb205fd2b6_0_108:notes">
            <a:extLst>
              <a:ext uri="{FF2B5EF4-FFF2-40B4-BE49-F238E27FC236}">
                <a16:creationId xmlns:a16="http://schemas.microsoft.com/office/drawing/2014/main" id="{4C94B3E0-42AA-A322-622A-32FE0DE0F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6" name="Google Shape;606;g1eb205fd2b6_0_108:notes">
            <a:extLst>
              <a:ext uri="{FF2B5EF4-FFF2-40B4-BE49-F238E27FC236}">
                <a16:creationId xmlns:a16="http://schemas.microsoft.com/office/drawing/2014/main" id="{C4EA70B4-8515-6FF4-DDFA-743ED3AF7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407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b205fd2b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1eb205fd2b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C7709381-AAD9-E6B5-BD3B-86BC1DB9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F4B77CFC-3645-CB73-892F-D5BB42881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104FB5C7-10F0-50EA-F740-EE18CBF2C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654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71E96551-8896-35EA-E413-0B2D4AE8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b205fd2b6_0_21:notes">
            <a:extLst>
              <a:ext uri="{FF2B5EF4-FFF2-40B4-BE49-F238E27FC236}">
                <a16:creationId xmlns:a16="http://schemas.microsoft.com/office/drawing/2014/main" id="{5C745654-8E6C-AF3B-2128-7342A6BE6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1eb205fd2b6_0_21:notes">
            <a:extLst>
              <a:ext uri="{FF2B5EF4-FFF2-40B4-BE49-F238E27FC236}">
                <a16:creationId xmlns:a16="http://schemas.microsoft.com/office/drawing/2014/main" id="{2F2371B8-5A6A-D919-12DD-ADE1E9486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3406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5AEB47C4-FE44-BED6-96C2-B2E33C05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b205fd2b6_0_21:notes">
            <a:extLst>
              <a:ext uri="{FF2B5EF4-FFF2-40B4-BE49-F238E27FC236}">
                <a16:creationId xmlns:a16="http://schemas.microsoft.com/office/drawing/2014/main" id="{A50D4659-3941-5AF3-3444-E11B21823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1eb205fd2b6_0_21:notes">
            <a:extLst>
              <a:ext uri="{FF2B5EF4-FFF2-40B4-BE49-F238E27FC236}">
                <a16:creationId xmlns:a16="http://schemas.microsoft.com/office/drawing/2014/main" id="{FF3F2E17-69E0-3AC4-AB2B-027894469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172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80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F989D96A-84C6-A92B-4548-41B53CED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b205fd2b6_0_21:notes">
            <a:extLst>
              <a:ext uri="{FF2B5EF4-FFF2-40B4-BE49-F238E27FC236}">
                <a16:creationId xmlns:a16="http://schemas.microsoft.com/office/drawing/2014/main" id="{83361588-B41B-5471-DDA0-F4C4A2582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1eb205fd2b6_0_21:notes">
            <a:extLst>
              <a:ext uri="{FF2B5EF4-FFF2-40B4-BE49-F238E27FC236}">
                <a16:creationId xmlns:a16="http://schemas.microsoft.com/office/drawing/2014/main" id="{6C98AE06-675B-816E-2F22-3D4072D19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3211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01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2814DAB2-DBBB-4E7B-EC4E-9EF622D6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10632E5C-13BF-C2E3-6828-003079533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4C7CBCE6-3620-8E98-0B6F-728944BAB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7797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79" name="Google Shape;779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eb205fd2b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9" name="Google Shape;929;g1eb205fd2b6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9385913" y="516570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185118" y="1780818"/>
            <a:ext cx="2597891" cy="2597879"/>
            <a:chOff x="4616075" y="1332525"/>
            <a:chExt cx="1915566" cy="1881022"/>
          </a:xfrm>
        </p:grpSpPr>
        <p:sp>
          <p:nvSpPr>
            <p:cNvPr id="13" name="Google Shape;13;p2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7971533" y="1305991"/>
            <a:ext cx="891613" cy="650098"/>
            <a:chOff x="4468725" y="937901"/>
            <a:chExt cx="656322" cy="478541"/>
          </a:xfrm>
        </p:grpSpPr>
        <p:sp>
          <p:nvSpPr>
            <p:cNvPr id="29" name="Google Shape;29;p2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10945151" y="3433043"/>
            <a:ext cx="712775" cy="873752"/>
            <a:chOff x="6197557" y="3002680"/>
            <a:chExt cx="524678" cy="643174"/>
          </a:xfrm>
        </p:grpSpPr>
        <p:sp>
          <p:nvSpPr>
            <p:cNvPr id="33" name="Google Shape;33;p2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7221549" y="4687209"/>
            <a:ext cx="1991617" cy="1991628"/>
          </a:xfrm>
          <a:custGeom>
            <a:avLst/>
            <a:gdLst/>
            <a:ahLst/>
            <a:cxnLst/>
            <a:rect l="l" t="t" r="r" b="b"/>
            <a:pathLst>
              <a:path w="1467121" h="1467129" extrusionOk="0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97526" y="66025"/>
            <a:ext cx="1425230" cy="1425228"/>
          </a:xfrm>
          <a:custGeom>
            <a:avLst/>
            <a:gdLst/>
            <a:ahLst/>
            <a:cxnLst/>
            <a:rect l="l" t="t" r="r" b="b"/>
            <a:pathLst>
              <a:path w="1049893" h="1049892" extrusionOk="0">
                <a:moveTo>
                  <a:pt x="0" y="524944"/>
                </a:moveTo>
                <a:cubicBezTo>
                  <a:pt x="0" y="235026"/>
                  <a:pt x="235026" y="0"/>
                  <a:pt x="524945" y="0"/>
                </a:cubicBezTo>
                <a:cubicBezTo>
                  <a:pt x="814863" y="0"/>
                  <a:pt x="1049894" y="235026"/>
                  <a:pt x="1049894" y="524944"/>
                </a:cubicBezTo>
                <a:cubicBezTo>
                  <a:pt x="1049894" y="814867"/>
                  <a:pt x="814863" y="1049893"/>
                  <a:pt x="524945" y="1049893"/>
                </a:cubicBezTo>
                <a:cubicBezTo>
                  <a:pt x="235026" y="1049893"/>
                  <a:pt x="0" y="814867"/>
                  <a:pt x="0" y="52494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-879675" y="-949152"/>
            <a:ext cx="2905255" cy="2905253"/>
          </a:xfrm>
          <a:custGeom>
            <a:avLst/>
            <a:gdLst/>
            <a:ahLst/>
            <a:cxnLst/>
            <a:rect l="l" t="t" r="r" b="b"/>
            <a:pathLst>
              <a:path w="2192645" h="2192644" extrusionOk="0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8340475" y="2016975"/>
            <a:ext cx="2283267" cy="2289816"/>
            <a:chOff x="4593397" y="1441597"/>
            <a:chExt cx="1680726" cy="1685547"/>
          </a:xfrm>
        </p:grpSpPr>
        <p:sp>
          <p:nvSpPr>
            <p:cNvPr id="40" name="Google Shape;40;p2"/>
            <p:cNvSpPr/>
            <p:nvPr/>
          </p:nvSpPr>
          <p:spPr>
            <a:xfrm>
              <a:off x="4636901" y="1545112"/>
              <a:ext cx="1637222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93397" y="1441597"/>
              <a:ext cx="1442681" cy="1464465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971521" y="4845101"/>
            <a:ext cx="1668612" cy="1391255"/>
            <a:chOff x="3790450" y="2922745"/>
            <a:chExt cx="1228275" cy="1024111"/>
          </a:xfrm>
        </p:grpSpPr>
        <p:sp>
          <p:nvSpPr>
            <p:cNvPr id="44" name="Google Shape;44;p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10268618" y="251265"/>
            <a:ext cx="1847185" cy="1054735"/>
            <a:chOff x="6220591" y="624724"/>
            <a:chExt cx="1359724" cy="776397"/>
          </a:xfrm>
        </p:grpSpPr>
        <p:sp>
          <p:nvSpPr>
            <p:cNvPr id="48" name="Google Shape;4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7407751" y="25475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1469" y="859395"/>
            <a:ext cx="417626" cy="417632"/>
          </a:xfrm>
          <a:custGeom>
            <a:avLst/>
            <a:gdLst/>
            <a:ahLst/>
            <a:cxnLst/>
            <a:rect l="l" t="t" r="r" b="b"/>
            <a:pathLst>
              <a:path w="264739" h="264743" extrusionOk="0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90300" y="5603654"/>
            <a:ext cx="1138643" cy="1138662"/>
          </a:xfrm>
          <a:custGeom>
            <a:avLst/>
            <a:gdLst/>
            <a:ahLst/>
            <a:cxnLst/>
            <a:rect l="l" t="t" r="r" b="b"/>
            <a:pathLst>
              <a:path w="998810" h="998826" extrusionOk="0">
                <a:moveTo>
                  <a:pt x="0" y="498620"/>
                </a:moveTo>
                <a:lnTo>
                  <a:pt x="500190" y="0"/>
                </a:lnTo>
                <a:lnTo>
                  <a:pt x="998810" y="500194"/>
                </a:lnTo>
                <a:lnTo>
                  <a:pt x="498620" y="998826"/>
                </a:lnTo>
                <a:lnTo>
                  <a:pt x="0" y="498620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53410" y="3351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>
            <a:spLocks noGrp="1"/>
          </p:cNvSpPr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010"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subTitle" idx="1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 rot="3039638">
            <a:off x="10223506" y="5077234"/>
            <a:ext cx="1382219" cy="789242"/>
            <a:chOff x="6220591" y="624724"/>
            <a:chExt cx="1359724" cy="776397"/>
          </a:xfrm>
        </p:grpSpPr>
        <p:sp>
          <p:nvSpPr>
            <p:cNvPr id="58" name="Google Shape;5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96601" y="62363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18D39-0BFE-58AA-8327-EC9FD0779E1B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65" name="Google Shape;65;p3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"/>
          <p:cNvSpPr/>
          <p:nvPr/>
        </p:nvSpPr>
        <p:spPr>
          <a:xfrm flipH="1">
            <a:off x="10905909" y="5310937"/>
            <a:ext cx="2072230" cy="207223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10430470" y="-361799"/>
            <a:ext cx="1019976" cy="10199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-934826" y="2688137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83" name="Google Shape;83;p3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3"/>
          <p:cNvGrpSpPr/>
          <p:nvPr/>
        </p:nvGrpSpPr>
        <p:grpSpPr>
          <a:xfrm>
            <a:off x="105078" y="3699685"/>
            <a:ext cx="712775" cy="873752"/>
            <a:chOff x="6197557" y="3002680"/>
            <a:chExt cx="524678" cy="643174"/>
          </a:xfrm>
        </p:grpSpPr>
        <p:sp>
          <p:nvSpPr>
            <p:cNvPr id="87" name="Google Shape;87;p3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91" name="Google Shape;91;p3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flipH="1">
            <a:off x="152404" y="3069621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8291816" y="1404964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A5763-CEDB-F1A0-2424-F8B4C52EC315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CUSTOM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77525" y="593375"/>
            <a:ext cx="68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1"/>
          </p:nvPr>
        </p:nvSpPr>
        <p:spPr>
          <a:xfrm>
            <a:off x="5487527" y="1719450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5487527" y="2030097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3"/>
          </p:nvPr>
        </p:nvSpPr>
        <p:spPr>
          <a:xfrm>
            <a:off x="5487527" y="247708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5487527" y="2787733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ubTitle" idx="5"/>
          </p:nvPr>
        </p:nvSpPr>
        <p:spPr>
          <a:xfrm>
            <a:off x="5487527" y="3234721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6"/>
          </p:nvPr>
        </p:nvSpPr>
        <p:spPr>
          <a:xfrm>
            <a:off x="5487527" y="3545368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subTitle" idx="7"/>
          </p:nvPr>
        </p:nvSpPr>
        <p:spPr>
          <a:xfrm>
            <a:off x="5487527" y="3992356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8"/>
          </p:nvPr>
        </p:nvSpPr>
        <p:spPr>
          <a:xfrm>
            <a:off x="5487527" y="4303004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ubTitle" idx="9"/>
          </p:nvPr>
        </p:nvSpPr>
        <p:spPr>
          <a:xfrm>
            <a:off x="5487527" y="4749992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5487527" y="5060639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14"/>
          </p:nvPr>
        </p:nvSpPr>
        <p:spPr>
          <a:xfrm>
            <a:off x="5487527" y="5507628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5"/>
          </p:nvPr>
        </p:nvSpPr>
        <p:spPr>
          <a:xfrm>
            <a:off x="5487527" y="5818275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31" name="Google Shape;131;p5"/>
          <p:cNvSpPr/>
          <p:nvPr/>
        </p:nvSpPr>
        <p:spPr>
          <a:xfrm flipH="1">
            <a:off x="2411300" y="5481692"/>
            <a:ext cx="1110354" cy="1110357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 flipH="1">
            <a:off x="1978611" y="692712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5"/>
          <p:cNvGrpSpPr/>
          <p:nvPr/>
        </p:nvGrpSpPr>
        <p:grpSpPr>
          <a:xfrm flipH="1">
            <a:off x="644395" y="2270085"/>
            <a:ext cx="2597891" cy="2597879"/>
            <a:chOff x="4616075" y="1332525"/>
            <a:chExt cx="1915566" cy="1881022"/>
          </a:xfrm>
        </p:grpSpPr>
        <p:sp>
          <p:nvSpPr>
            <p:cNvPr id="134" name="Google Shape;134;p5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5"/>
          <p:cNvGrpSpPr/>
          <p:nvPr/>
        </p:nvGrpSpPr>
        <p:grpSpPr>
          <a:xfrm flipH="1">
            <a:off x="2709708" y="2763895"/>
            <a:ext cx="891613" cy="650098"/>
            <a:chOff x="4468725" y="937901"/>
            <a:chExt cx="656322" cy="478541"/>
          </a:xfrm>
        </p:grpSpPr>
        <p:sp>
          <p:nvSpPr>
            <p:cNvPr id="149" name="Google Shape;149;p5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5"/>
          <p:cNvGrpSpPr/>
          <p:nvPr/>
        </p:nvGrpSpPr>
        <p:grpSpPr>
          <a:xfrm flipH="1">
            <a:off x="804128" y="5395135"/>
            <a:ext cx="712775" cy="873752"/>
            <a:chOff x="6197557" y="3002680"/>
            <a:chExt cx="524678" cy="643174"/>
          </a:xfrm>
        </p:grpSpPr>
        <p:sp>
          <p:nvSpPr>
            <p:cNvPr id="153" name="Google Shape;153;p5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 flipH="1">
            <a:off x="337275" y="2846868"/>
            <a:ext cx="2286686" cy="2289823"/>
            <a:chOff x="4593392" y="1441589"/>
            <a:chExt cx="1683243" cy="1685552"/>
          </a:xfrm>
        </p:grpSpPr>
        <p:sp>
          <p:nvSpPr>
            <p:cNvPr id="157" name="Google Shape;157;p5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 rot="2440826" flipH="1">
            <a:off x="557043" y="740550"/>
            <a:ext cx="1847135" cy="1054707"/>
            <a:chOff x="6220591" y="624724"/>
            <a:chExt cx="1359724" cy="776397"/>
          </a:xfrm>
        </p:grpSpPr>
        <p:sp>
          <p:nvSpPr>
            <p:cNvPr id="161" name="Google Shape;161;p5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5"/>
          <p:cNvSpPr/>
          <p:nvPr/>
        </p:nvSpPr>
        <p:spPr>
          <a:xfrm flipH="1">
            <a:off x="2053672" y="5733290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 flipH="1">
            <a:off x="2440904" y="572721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DBFE07-89EC-B71B-71C6-5D3793C2D09E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>
            <a:spLocks noGrp="1"/>
          </p:cNvSpPr>
          <p:nvPr>
            <p:ph type="title"/>
          </p:nvPr>
        </p:nvSpPr>
        <p:spPr>
          <a:xfrm>
            <a:off x="5267250" y="1818150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6"/>
          <p:cNvSpPr txBox="1">
            <a:spLocks noGrp="1"/>
          </p:cNvSpPr>
          <p:nvPr>
            <p:ph type="subTitle" idx="1"/>
          </p:nvPr>
        </p:nvSpPr>
        <p:spPr>
          <a:xfrm>
            <a:off x="5267248" y="3228122"/>
            <a:ext cx="6143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30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6"/>
          <p:cNvSpPr txBox="1">
            <a:spLocks noGrp="1"/>
          </p:cNvSpPr>
          <p:nvPr>
            <p:ph type="body" idx="2"/>
          </p:nvPr>
        </p:nvSpPr>
        <p:spPr>
          <a:xfrm>
            <a:off x="5267260" y="3742051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70" name="Google Shape;170;p6"/>
          <p:cNvGrpSpPr/>
          <p:nvPr/>
        </p:nvGrpSpPr>
        <p:grpSpPr>
          <a:xfrm flipH="1">
            <a:off x="1367519" y="1780818"/>
            <a:ext cx="2597891" cy="2597879"/>
            <a:chOff x="4616075" y="1332525"/>
            <a:chExt cx="1915566" cy="1881022"/>
          </a:xfrm>
        </p:grpSpPr>
        <p:sp>
          <p:nvSpPr>
            <p:cNvPr id="171" name="Google Shape;171;p6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6"/>
          <p:cNvGrpSpPr/>
          <p:nvPr/>
        </p:nvGrpSpPr>
        <p:grpSpPr>
          <a:xfrm flipH="1">
            <a:off x="3287382" y="1305991"/>
            <a:ext cx="891613" cy="650098"/>
            <a:chOff x="4468725" y="937901"/>
            <a:chExt cx="656322" cy="478541"/>
          </a:xfrm>
        </p:grpSpPr>
        <p:sp>
          <p:nvSpPr>
            <p:cNvPr id="186" name="Google Shape;186;p6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 flipH="1">
            <a:off x="492602" y="3433043"/>
            <a:ext cx="712775" cy="873752"/>
            <a:chOff x="6197557" y="3002680"/>
            <a:chExt cx="524678" cy="643174"/>
          </a:xfrm>
        </p:grpSpPr>
        <p:sp>
          <p:nvSpPr>
            <p:cNvPr id="190" name="Google Shape;190;p6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6"/>
          <p:cNvSpPr/>
          <p:nvPr/>
        </p:nvSpPr>
        <p:spPr>
          <a:xfrm flipH="1">
            <a:off x="10124948" y="-949152"/>
            <a:ext cx="2905255" cy="2905253"/>
          </a:xfrm>
          <a:custGeom>
            <a:avLst/>
            <a:gdLst/>
            <a:ahLst/>
            <a:cxnLst/>
            <a:rect l="l" t="t" r="r" b="b"/>
            <a:pathLst>
              <a:path w="2192645" h="2192644" extrusionOk="0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6"/>
          <p:cNvGrpSpPr/>
          <p:nvPr/>
        </p:nvGrpSpPr>
        <p:grpSpPr>
          <a:xfrm flipH="1">
            <a:off x="1526787" y="2016975"/>
            <a:ext cx="2283267" cy="2289816"/>
            <a:chOff x="4593397" y="1441597"/>
            <a:chExt cx="1680726" cy="1685547"/>
          </a:xfrm>
        </p:grpSpPr>
        <p:sp>
          <p:nvSpPr>
            <p:cNvPr id="195" name="Google Shape;195;p6"/>
            <p:cNvSpPr/>
            <p:nvPr/>
          </p:nvSpPr>
          <p:spPr>
            <a:xfrm>
              <a:off x="4636901" y="1545112"/>
              <a:ext cx="1637222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593397" y="1441597"/>
              <a:ext cx="1442681" cy="1464465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 flipH="1">
            <a:off x="2510395" y="4845101"/>
            <a:ext cx="1668612" cy="1391255"/>
            <a:chOff x="3790450" y="2922745"/>
            <a:chExt cx="1228275" cy="1024111"/>
          </a:xfrm>
        </p:grpSpPr>
        <p:sp>
          <p:nvSpPr>
            <p:cNvPr id="199" name="Google Shape;199;p6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 flipH="1">
            <a:off x="34725" y="251265"/>
            <a:ext cx="1847185" cy="1054735"/>
            <a:chOff x="6220591" y="624724"/>
            <a:chExt cx="1359724" cy="776397"/>
          </a:xfrm>
        </p:grpSpPr>
        <p:sp>
          <p:nvSpPr>
            <p:cNvPr id="203" name="Google Shape;203;p6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6"/>
          <p:cNvSpPr/>
          <p:nvPr/>
        </p:nvSpPr>
        <p:spPr>
          <a:xfrm flipH="1">
            <a:off x="4383378" y="25475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 flipH="1">
            <a:off x="11091434" y="859395"/>
            <a:ext cx="417626" cy="417632"/>
          </a:xfrm>
          <a:custGeom>
            <a:avLst/>
            <a:gdLst/>
            <a:ahLst/>
            <a:cxnLst/>
            <a:rect l="l" t="t" r="r" b="b"/>
            <a:pathLst>
              <a:path w="264739" h="264743" extrusionOk="0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 flipH="1">
            <a:off x="1589996" y="3351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6"/>
          <p:cNvGrpSpPr/>
          <p:nvPr/>
        </p:nvGrpSpPr>
        <p:grpSpPr>
          <a:xfrm rot="-3039638" flipH="1">
            <a:off x="544803" y="5077234"/>
            <a:ext cx="1382219" cy="789242"/>
            <a:chOff x="6220591" y="624724"/>
            <a:chExt cx="1359724" cy="776397"/>
          </a:xfrm>
        </p:grpSpPr>
        <p:sp>
          <p:nvSpPr>
            <p:cNvPr id="210" name="Google Shape;210;p6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1592071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 flipH="1">
            <a:off x="494528" y="62363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EB1F1-D7A7-C073-F91E-2FC007627A8E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481F48"/>
          </a:solidFill>
          <a:ln>
            <a:solidFill>
              <a:srgbClr val="481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44675" y="577600"/>
            <a:ext cx="8221500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2"/>
          </p:nvPr>
        </p:nvSpPr>
        <p:spPr>
          <a:xfrm>
            <a:off x="1063829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subTitle" idx="3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4"/>
          </p:nvPr>
        </p:nvSpPr>
        <p:spPr>
          <a:xfrm>
            <a:off x="5168623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subTitle" idx="5"/>
          </p:nvPr>
        </p:nvSpPr>
        <p:spPr>
          <a:xfrm>
            <a:off x="1063724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body" idx="6"/>
          </p:nvPr>
        </p:nvSpPr>
        <p:spPr>
          <a:xfrm>
            <a:off x="1063768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7"/>
          </p:nvPr>
        </p:nvSpPr>
        <p:spPr>
          <a:xfrm>
            <a:off x="5168563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8"/>
          </p:nvPr>
        </p:nvSpPr>
        <p:spPr>
          <a:xfrm>
            <a:off x="5168525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757462" y="5481679"/>
            <a:ext cx="1110354" cy="1110357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547825" y="692699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9036830" y="2270073"/>
            <a:ext cx="2597891" cy="2597879"/>
            <a:chOff x="4616075" y="1332525"/>
            <a:chExt cx="1915566" cy="1881022"/>
          </a:xfrm>
        </p:grpSpPr>
        <p:sp>
          <p:nvSpPr>
            <p:cNvPr id="228" name="Google Shape;228;p7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8677795" y="2763882"/>
            <a:ext cx="891613" cy="650098"/>
            <a:chOff x="4468725" y="937901"/>
            <a:chExt cx="656322" cy="478541"/>
          </a:xfrm>
        </p:grpSpPr>
        <p:sp>
          <p:nvSpPr>
            <p:cNvPr id="243" name="Google Shape;243;p7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7"/>
          <p:cNvGrpSpPr/>
          <p:nvPr/>
        </p:nvGrpSpPr>
        <p:grpSpPr>
          <a:xfrm>
            <a:off x="10762214" y="5395122"/>
            <a:ext cx="712775" cy="873752"/>
            <a:chOff x="6197557" y="3002680"/>
            <a:chExt cx="524678" cy="643174"/>
          </a:xfrm>
        </p:grpSpPr>
        <p:sp>
          <p:nvSpPr>
            <p:cNvPr id="247" name="Google Shape;247;p7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9655155" y="2846855"/>
            <a:ext cx="2286686" cy="2289823"/>
            <a:chOff x="4593392" y="1441589"/>
            <a:chExt cx="1683243" cy="1685552"/>
          </a:xfrm>
        </p:grpSpPr>
        <p:sp>
          <p:nvSpPr>
            <p:cNvPr id="251" name="Google Shape;251;p7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7"/>
          <p:cNvGrpSpPr/>
          <p:nvPr/>
        </p:nvGrpSpPr>
        <p:grpSpPr>
          <a:xfrm rot="-2440826">
            <a:off x="9874938" y="740537"/>
            <a:ext cx="1847135" cy="1054707"/>
            <a:chOff x="6220591" y="624724"/>
            <a:chExt cx="1359724" cy="776397"/>
          </a:xfrm>
        </p:grpSpPr>
        <p:sp>
          <p:nvSpPr>
            <p:cNvPr id="255" name="Google Shape;255;p7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7"/>
          <p:cNvSpPr/>
          <p:nvPr/>
        </p:nvSpPr>
        <p:spPr>
          <a:xfrm>
            <a:off x="9618322" y="5733278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478813" y="572709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639A6-8ECD-E800-839E-04791DB1CE11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9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9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4" name="Google Shape;284;p9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6" name="Google Shape;286;p9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7" name="Google Shape;287;p9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 flipH="1">
            <a:off x="159222" y="6172023"/>
            <a:ext cx="1090987" cy="1090990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F3D1F-15B3-8848-1641-C758830FE72B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>
            <a:off x="6745299" y="4866384"/>
            <a:ext cx="1991617" cy="1991628"/>
          </a:xfrm>
          <a:custGeom>
            <a:avLst/>
            <a:gdLst/>
            <a:ahLst/>
            <a:cxnLst/>
            <a:rect l="l" t="t" r="r" b="b"/>
            <a:pathLst>
              <a:path w="1467121" h="1467129" extrusionOk="0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9241061" y="296553"/>
            <a:ext cx="2323996" cy="2324003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" name="Google Shape;339;p12"/>
          <p:cNvGrpSpPr/>
          <p:nvPr/>
        </p:nvGrpSpPr>
        <p:grpSpPr>
          <a:xfrm>
            <a:off x="7649791" y="1972199"/>
            <a:ext cx="3443231" cy="3443211"/>
            <a:chOff x="4616075" y="1332525"/>
            <a:chExt cx="1915566" cy="1881022"/>
          </a:xfrm>
        </p:grpSpPr>
        <p:sp>
          <p:nvSpPr>
            <p:cNvPr id="340" name="Google Shape;340;p12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7366492" y="1342819"/>
            <a:ext cx="1181708" cy="861613"/>
            <a:chOff x="4468725" y="937901"/>
            <a:chExt cx="656322" cy="478541"/>
          </a:xfrm>
        </p:grpSpPr>
        <p:sp>
          <p:nvSpPr>
            <p:cNvPr id="355" name="Google Shape;355;p12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11307604" y="4161927"/>
            <a:ext cx="944683" cy="1158035"/>
            <a:chOff x="6197557" y="3002680"/>
            <a:chExt cx="524678" cy="643174"/>
          </a:xfrm>
        </p:grpSpPr>
        <p:sp>
          <p:nvSpPr>
            <p:cNvPr id="359" name="Google Shape;359;p12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12"/>
          <p:cNvGrpSpPr/>
          <p:nvPr/>
        </p:nvGrpSpPr>
        <p:grpSpPr>
          <a:xfrm>
            <a:off x="10410953" y="-55071"/>
            <a:ext cx="2448183" cy="1397903"/>
            <a:chOff x="6220591" y="624724"/>
            <a:chExt cx="1359724" cy="776397"/>
          </a:xfrm>
        </p:grpSpPr>
        <p:sp>
          <p:nvSpPr>
            <p:cNvPr id="363" name="Google Shape;363;p1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2"/>
          <p:cNvSpPr/>
          <p:nvPr/>
        </p:nvSpPr>
        <p:spPr>
          <a:xfrm>
            <a:off x="9993199" y="56121"/>
            <a:ext cx="805025" cy="805025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>
            <a:spLocks noGrp="1"/>
          </p:cNvSpPr>
          <p:nvPr>
            <p:ph type="title"/>
          </p:nvPr>
        </p:nvSpPr>
        <p:spPr>
          <a:xfrm>
            <a:off x="1128763" y="1685375"/>
            <a:ext cx="58281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9" name="Google Shape;369;p12"/>
          <p:cNvSpPr txBox="1">
            <a:spLocks noGrp="1"/>
          </p:cNvSpPr>
          <p:nvPr>
            <p:ph type="body" idx="1"/>
          </p:nvPr>
        </p:nvSpPr>
        <p:spPr>
          <a:xfrm>
            <a:off x="1128763" y="2819125"/>
            <a:ext cx="5828100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2pPr>
            <a:lvl3pPr marL="1371600" lvl="2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3pPr>
            <a:lvl4pPr marL="1828800" lvl="3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4pPr>
            <a:lvl5pPr marL="2286000" lvl="4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5pPr>
            <a:lvl6pPr marL="2743200" lvl="5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6pPr>
            <a:lvl7pPr marL="3200400" lvl="6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7pPr>
            <a:lvl8pPr marL="3657600" lvl="7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8pPr>
            <a:lvl9pPr marL="4114800" lvl="8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9pPr>
          </a:lstStyle>
          <a:p>
            <a:endParaRPr/>
          </a:p>
        </p:txBody>
      </p:sp>
      <p:sp>
        <p:nvSpPr>
          <p:cNvPr id="370" name="Google Shape;370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12"/>
          <p:cNvSpPr>
            <a:spLocks noGrp="1"/>
          </p:cNvSpPr>
          <p:nvPr>
            <p:ph type="pic" idx="2"/>
          </p:nvPr>
        </p:nvSpPr>
        <p:spPr>
          <a:xfrm>
            <a:off x="7551600" y="1874000"/>
            <a:ext cx="3639600" cy="363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2" name="Google Shape;372;p12"/>
          <p:cNvSpPr/>
          <p:nvPr/>
        </p:nvSpPr>
        <p:spPr>
          <a:xfrm>
            <a:off x="-777152" y="5319949"/>
            <a:ext cx="2072230" cy="207223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128774" y="-452200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12"/>
          <p:cNvGrpSpPr/>
          <p:nvPr/>
        </p:nvGrpSpPr>
        <p:grpSpPr>
          <a:xfrm>
            <a:off x="7383002" y="4540325"/>
            <a:ext cx="2181048" cy="1818514"/>
            <a:chOff x="3790450" y="2922745"/>
            <a:chExt cx="1228275" cy="1024111"/>
          </a:xfrm>
        </p:grpSpPr>
        <p:sp>
          <p:nvSpPr>
            <p:cNvPr id="376" name="Google Shape;376;p1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12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BCFCC-8E10-DFF6-A3EB-74890768D62F}"/>
              </a:ext>
            </a:extLst>
          </p:cNvPr>
          <p:cNvSpPr/>
          <p:nvPr userDrawn="1"/>
        </p:nvSpPr>
        <p:spPr>
          <a:xfrm rot="16200000">
            <a:off x="-539623" y="6161271"/>
            <a:ext cx="1250227" cy="149638"/>
          </a:xfrm>
          <a:prstGeom prst="rect">
            <a:avLst/>
          </a:prstGeom>
          <a:solidFill>
            <a:srgbClr val="FFB093"/>
          </a:solidFill>
          <a:ln>
            <a:solidFill>
              <a:srgbClr val="FFB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_COLUMN_TEXT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13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13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385" name="Google Shape;385;p13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13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389" name="Google Shape;389;p13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3"/>
          <p:cNvSpPr txBox="1">
            <a:spLocks noGrp="1"/>
          </p:cNvSpPr>
          <p:nvPr>
            <p:ph type="title"/>
          </p:nvPr>
        </p:nvSpPr>
        <p:spPr>
          <a:xfrm>
            <a:off x="7393350" y="509800"/>
            <a:ext cx="420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93" name="Google Shape;393;p13"/>
          <p:cNvSpPr txBox="1">
            <a:spLocks noGrp="1"/>
          </p:cNvSpPr>
          <p:nvPr>
            <p:ph type="body" idx="1"/>
          </p:nvPr>
        </p:nvSpPr>
        <p:spPr>
          <a:xfrm>
            <a:off x="598650" y="5491100"/>
            <a:ext cx="9555000" cy="106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94" name="Google Shape;394;p13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13"/>
          <p:cNvSpPr>
            <a:spLocks noGrp="1"/>
          </p:cNvSpPr>
          <p:nvPr>
            <p:ph type="pic" idx="3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B46B5-2765-DBF1-9054-451A0E564896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18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8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8"/>
          <p:cNvSpPr/>
          <p:nvPr/>
        </p:nvSpPr>
        <p:spPr>
          <a:xfrm flipH="1">
            <a:off x="365415" y="58633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18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484" name="Google Shape;484;p18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8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488" name="Google Shape;488;p18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18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18"/>
          <p:cNvSpPr txBox="1">
            <a:spLocks noGrp="1"/>
          </p:cNvSpPr>
          <p:nvPr>
            <p:ph type="title" hasCustomPrompt="1"/>
          </p:nvPr>
        </p:nvSpPr>
        <p:spPr>
          <a:xfrm>
            <a:off x="415650" y="1171723"/>
            <a:ext cx="1136070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4" name="Google Shape;494;p18"/>
          <p:cNvSpPr txBox="1">
            <a:spLocks noGrp="1"/>
          </p:cNvSpPr>
          <p:nvPr>
            <p:ph type="body" idx="1"/>
          </p:nvPr>
        </p:nvSpPr>
        <p:spPr>
          <a:xfrm>
            <a:off x="415650" y="4681867"/>
            <a:ext cx="1136070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753DA5-BA01-D55A-FF95-8F44913A71AE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481F48"/>
          </a:solidFill>
          <a:ln>
            <a:solidFill>
              <a:srgbClr val="481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39FF6A-E77A-2ED8-93C5-5BC4041E99B1}"/>
              </a:ext>
            </a:extLst>
          </p:cNvPr>
          <p:cNvSpPr/>
          <p:nvPr userDrawn="1"/>
        </p:nvSpPr>
        <p:spPr>
          <a:xfrm rot="16200000">
            <a:off x="-782249" y="5915265"/>
            <a:ext cx="1738859" cy="153019"/>
          </a:xfrm>
          <a:prstGeom prst="rect">
            <a:avLst/>
          </a:prstGeom>
          <a:solidFill>
            <a:srgbClr val="FCEDDF"/>
          </a:solidFill>
          <a:ln>
            <a:solidFill>
              <a:srgbClr val="FCE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4" r:id="rId9"/>
    <p:sldLayoutId id="214748366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microsoft.com/office/2014/relationships/chartEx" Target="../charts/chartEx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 txBox="1">
            <a:spLocks noGrp="1"/>
          </p:cNvSpPr>
          <p:nvPr>
            <p:ph type="ctrTitle"/>
          </p:nvPr>
        </p:nvSpPr>
        <p:spPr>
          <a:xfrm>
            <a:off x="912825" y="2638878"/>
            <a:ext cx="65040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210" dirty="0"/>
              <a:t>Retail Analysis Capstone </a:t>
            </a:r>
            <a:endParaRPr sz="8210" dirty="0"/>
          </a:p>
        </p:txBody>
      </p:sp>
      <p:sp>
        <p:nvSpPr>
          <p:cNvPr id="514" name="Google Shape;514;p21"/>
          <p:cNvSpPr txBox="1">
            <a:spLocks noGrp="1"/>
          </p:cNvSpPr>
          <p:nvPr>
            <p:ph type="subTitle" idx="1"/>
          </p:nvPr>
        </p:nvSpPr>
        <p:spPr>
          <a:xfrm>
            <a:off x="912825" y="5375778"/>
            <a:ext cx="6504000" cy="5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Mary Anna Garifo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2"/>
          <p:cNvSpPr txBox="1">
            <a:spLocks noGrp="1"/>
          </p:cNvSpPr>
          <p:nvPr>
            <p:ph type="title"/>
          </p:nvPr>
        </p:nvSpPr>
        <p:spPr>
          <a:xfrm>
            <a:off x="417439" y="1917698"/>
            <a:ext cx="6752494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Hello! </a:t>
            </a:r>
            <a:br>
              <a:rPr lang="en" dirty="0"/>
            </a:br>
            <a:r>
              <a:rPr lang="en" dirty="0"/>
              <a:t>I’m Mary Anna</a:t>
            </a:r>
            <a:endParaRPr dirty="0"/>
          </a:p>
        </p:txBody>
      </p:sp>
      <p:sp>
        <p:nvSpPr>
          <p:cNvPr id="520" name="Google Shape;520;p22"/>
          <p:cNvSpPr txBox="1">
            <a:spLocks noGrp="1"/>
          </p:cNvSpPr>
          <p:nvPr>
            <p:ph type="body" idx="1"/>
          </p:nvPr>
        </p:nvSpPr>
        <p:spPr>
          <a:xfrm>
            <a:off x="204369" y="2819125"/>
            <a:ext cx="6752494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342900" indent="-342900"/>
            <a:r>
              <a:rPr lang="en-US" dirty="0"/>
              <a:t>Started career as an Earth Science Geographic Information System (GIS) Teacher </a:t>
            </a:r>
          </a:p>
          <a:p>
            <a:pPr marL="342900" indent="-342900"/>
            <a:r>
              <a:rPr lang="en-US" dirty="0"/>
              <a:t>Current Booz Allen consultant with the Air Force’s Operational Energy – as a result of this class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  <a:p>
            <a:pPr marL="342900" indent="-342900"/>
            <a:r>
              <a:rPr lang="en-US" dirty="0"/>
              <a:t>.1% of Spotify listener of Taylor Swift </a:t>
            </a:r>
          </a:p>
          <a:p>
            <a:pPr marL="0" indent="0">
              <a:buNone/>
            </a:pPr>
            <a:endParaRPr dirty="0"/>
          </a:p>
        </p:txBody>
      </p:sp>
      <p:grpSp>
        <p:nvGrpSpPr>
          <p:cNvPr id="522" name="Google Shape;522;p22"/>
          <p:cNvGrpSpPr/>
          <p:nvPr/>
        </p:nvGrpSpPr>
        <p:grpSpPr>
          <a:xfrm>
            <a:off x="7383002" y="4540325"/>
            <a:ext cx="2181048" cy="1818514"/>
            <a:chOff x="3790450" y="2922745"/>
            <a:chExt cx="1228275" cy="1024111"/>
          </a:xfrm>
        </p:grpSpPr>
        <p:sp>
          <p:nvSpPr>
            <p:cNvPr id="523" name="Google Shape;523;p2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65228D6-FC57-2C9E-0D3D-7B9C8F85618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66" t="239" r="24634" b="-239"/>
          <a:stretch>
            <a:fillRect/>
          </a:stretch>
        </p:blipFill>
        <p:spPr>
          <a:xfrm rot="5400000">
            <a:off x="7551737" y="1873250"/>
            <a:ext cx="3640138" cy="3640137"/>
          </a:xfrm>
          <a:prstGeom prst="rect">
            <a:avLst/>
          </a:prstGeom>
          <a:noFill/>
          <a:ln w="381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"/>
          <p:cNvSpPr txBox="1">
            <a:spLocks noGrp="1"/>
          </p:cNvSpPr>
          <p:nvPr>
            <p:ph type="title"/>
          </p:nvPr>
        </p:nvSpPr>
        <p:spPr>
          <a:xfrm>
            <a:off x="5047267" y="880026"/>
            <a:ext cx="68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531" name="Google Shape;531;p23"/>
          <p:cNvSpPr txBox="1">
            <a:spLocks noGrp="1"/>
          </p:cNvSpPr>
          <p:nvPr>
            <p:ph type="subTitle" idx="1"/>
          </p:nvPr>
        </p:nvSpPr>
        <p:spPr>
          <a:xfrm>
            <a:off x="5907248" y="210737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532" name="Google Shape;532;p23"/>
          <p:cNvSpPr txBox="1">
            <a:spLocks noGrp="1"/>
          </p:cNvSpPr>
          <p:nvPr>
            <p:ph type="body" idx="2"/>
          </p:nvPr>
        </p:nvSpPr>
        <p:spPr>
          <a:xfrm>
            <a:off x="5907248" y="2418022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i="1" dirty="0"/>
              <a:t>What is the goal?</a:t>
            </a:r>
            <a:endParaRPr i="1" dirty="0"/>
          </a:p>
        </p:txBody>
      </p:sp>
      <p:sp>
        <p:nvSpPr>
          <p:cNvPr id="533" name="Google Shape;533;p23"/>
          <p:cNvSpPr txBox="1">
            <a:spLocks noGrp="1"/>
          </p:cNvSpPr>
          <p:nvPr>
            <p:ph type="subTitle" idx="3"/>
          </p:nvPr>
        </p:nvSpPr>
        <p:spPr>
          <a:xfrm>
            <a:off x="5907248" y="2865010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534" name="Google Shape;534;p23"/>
          <p:cNvSpPr txBox="1">
            <a:spLocks noGrp="1"/>
          </p:cNvSpPr>
          <p:nvPr>
            <p:ph type="body" idx="4"/>
          </p:nvPr>
        </p:nvSpPr>
        <p:spPr>
          <a:xfrm>
            <a:off x="5907248" y="3175658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i="1" dirty="0"/>
              <a:t>How was it done?</a:t>
            </a:r>
            <a:endParaRPr i="1" dirty="0"/>
          </a:p>
        </p:txBody>
      </p:sp>
      <p:sp>
        <p:nvSpPr>
          <p:cNvPr id="535" name="Google Shape;535;p23"/>
          <p:cNvSpPr txBox="1">
            <a:spLocks noGrp="1"/>
          </p:cNvSpPr>
          <p:nvPr>
            <p:ph type="subTitle" idx="5"/>
          </p:nvPr>
        </p:nvSpPr>
        <p:spPr>
          <a:xfrm>
            <a:off x="5907248" y="3622646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536" name="Google Shape;536;p23"/>
          <p:cNvSpPr txBox="1">
            <a:spLocks noGrp="1"/>
          </p:cNvSpPr>
          <p:nvPr>
            <p:ph type="body" idx="6"/>
          </p:nvPr>
        </p:nvSpPr>
        <p:spPr>
          <a:xfrm>
            <a:off x="5907248" y="3933293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i="1" dirty="0"/>
              <a:t>What work was done?</a:t>
            </a:r>
            <a:endParaRPr i="1" dirty="0"/>
          </a:p>
        </p:txBody>
      </p:sp>
      <p:sp>
        <p:nvSpPr>
          <p:cNvPr id="537" name="Google Shape;537;p23"/>
          <p:cNvSpPr txBox="1">
            <a:spLocks noGrp="1"/>
          </p:cNvSpPr>
          <p:nvPr>
            <p:ph type="subTitle" idx="7"/>
          </p:nvPr>
        </p:nvSpPr>
        <p:spPr>
          <a:xfrm>
            <a:off x="5907248" y="4380281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538" name="Google Shape;538;p23"/>
          <p:cNvSpPr txBox="1">
            <a:spLocks noGrp="1"/>
          </p:cNvSpPr>
          <p:nvPr>
            <p:ph type="body" idx="8"/>
          </p:nvPr>
        </p:nvSpPr>
        <p:spPr>
          <a:xfrm>
            <a:off x="5907248" y="4690929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i="1" dirty="0"/>
              <a:t>Are there recommendations?</a:t>
            </a:r>
            <a:endParaRPr i="1" dirty="0"/>
          </a:p>
        </p:txBody>
      </p:sp>
      <p:sp>
        <p:nvSpPr>
          <p:cNvPr id="539" name="Google Shape;539;p23"/>
          <p:cNvSpPr txBox="1">
            <a:spLocks noGrp="1"/>
          </p:cNvSpPr>
          <p:nvPr>
            <p:ph type="subTitle" idx="9"/>
          </p:nvPr>
        </p:nvSpPr>
        <p:spPr>
          <a:xfrm>
            <a:off x="5907248" y="5137917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dirty="0"/>
              <a:t>Q&amp;A</a:t>
            </a:r>
            <a:endParaRPr dirty="0"/>
          </a:p>
        </p:txBody>
      </p:sp>
      <p:sp>
        <p:nvSpPr>
          <p:cNvPr id="540" name="Google Shape;540;p23"/>
          <p:cNvSpPr txBox="1">
            <a:spLocks noGrp="1"/>
          </p:cNvSpPr>
          <p:nvPr>
            <p:ph type="body" idx="13"/>
          </p:nvPr>
        </p:nvSpPr>
        <p:spPr>
          <a:xfrm>
            <a:off x="5907248" y="5448564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i="1" dirty="0"/>
              <a:t>What thoughts did this provoke? </a:t>
            </a:r>
            <a:endParaRPr i="1" dirty="0"/>
          </a:p>
        </p:txBody>
      </p:sp>
      <p:sp>
        <p:nvSpPr>
          <p:cNvPr id="543" name="Google Shape;543;p23"/>
          <p:cNvSpPr/>
          <p:nvPr/>
        </p:nvSpPr>
        <p:spPr>
          <a:xfrm>
            <a:off x="5097234" y="218060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097234" y="518374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5097234" y="4432955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5097234" y="368217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5097234" y="2931385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Objective</a:t>
            </a:r>
            <a:endParaRPr sz="5500" dirty="0"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235857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42900" indent="-342900">
              <a:spcAft>
                <a:spcPts val="1600"/>
              </a:spcAft>
            </a:pPr>
            <a:r>
              <a:rPr lang="en-US" dirty="0"/>
              <a:t>Take retail transaction data and turn it into insights to drive a strategic decision-making marketing campaign</a:t>
            </a:r>
          </a:p>
          <a:p>
            <a:pPr marL="342900" indent="-342900">
              <a:spcAft>
                <a:spcPts val="1600"/>
              </a:spcAft>
            </a:pPr>
            <a:r>
              <a:rPr lang="en-US" dirty="0"/>
              <a:t>Optimizing promotional strategies to maximize their effectiveness and return on investment</a:t>
            </a: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 txBox="1">
            <a:spLocks noGrp="1"/>
          </p:cNvSpPr>
          <p:nvPr>
            <p:ph type="title"/>
          </p:nvPr>
        </p:nvSpPr>
        <p:spPr>
          <a:xfrm>
            <a:off x="415650" y="1171723"/>
            <a:ext cx="1136070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62,748</a:t>
            </a:r>
            <a:endParaRPr dirty="0"/>
          </a:p>
        </p:txBody>
      </p:sp>
      <p:sp>
        <p:nvSpPr>
          <p:cNvPr id="626" name="Google Shape;626;p32"/>
          <p:cNvSpPr txBox="1">
            <a:spLocks noGrp="1"/>
          </p:cNvSpPr>
          <p:nvPr>
            <p:ph type="body" idx="1"/>
          </p:nvPr>
        </p:nvSpPr>
        <p:spPr>
          <a:xfrm>
            <a:off x="415650" y="4681867"/>
            <a:ext cx="1136070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… n</a:t>
            </a:r>
            <a:r>
              <a:rPr lang="en" dirty="0"/>
              <a:t>umbers in my dataset and its my job is to reveal their meaning.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C5BC1D98-99E1-7549-F927-9E6AEA6D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>
            <a:extLst>
              <a:ext uri="{FF2B5EF4-FFF2-40B4-BE49-F238E27FC236}">
                <a16:creationId xmlns:a16="http://schemas.microsoft.com/office/drawing/2014/main" id="{B288A91E-DB33-01ED-15C2-288903659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5467" y="2795408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Methodology</a:t>
            </a:r>
            <a:endParaRPr sz="5500" dirty="0"/>
          </a:p>
        </p:txBody>
      </p:sp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7367B76E-B0BA-DE11-61A5-7B3ADC765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0642" y="3835279"/>
            <a:ext cx="8962200" cy="235857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42900" indent="-342900">
              <a:spcAft>
                <a:spcPts val="1600"/>
              </a:spcAft>
            </a:pPr>
            <a:r>
              <a:rPr lang="en-US" dirty="0"/>
              <a:t>Marketing Campaign dataset</a:t>
            </a:r>
          </a:p>
          <a:p>
            <a:pPr marL="800100" lvl="1" indent="-342900">
              <a:spcAft>
                <a:spcPts val="1600"/>
              </a:spcAft>
            </a:pPr>
            <a:r>
              <a:rPr lang="en-US" dirty="0"/>
              <a:t>Rows 2,241, Columns 28</a:t>
            </a:r>
          </a:p>
          <a:p>
            <a:pPr marL="800100" lvl="1" indent="-342900">
              <a:spcAft>
                <a:spcPts val="1600"/>
              </a:spcAft>
            </a:pPr>
            <a:r>
              <a:rPr lang="en-US" dirty="0"/>
              <a:t>Tools: Excel, SQL, Tableau, Python</a:t>
            </a: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012186E9-1AB4-1C12-48F0-E455FA0D8DB1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2DCE97-4910-3B93-ACFA-9008E3C343E8}"/>
              </a:ext>
            </a:extLst>
          </p:cNvPr>
          <p:cNvCxnSpPr/>
          <p:nvPr/>
        </p:nvCxnSpPr>
        <p:spPr>
          <a:xfrm>
            <a:off x="7130708" y="5781822"/>
            <a:ext cx="1070949" cy="0"/>
          </a:xfrm>
          <a:prstGeom prst="straightConnector1">
            <a:avLst/>
          </a:prstGeom>
          <a:ln>
            <a:solidFill>
              <a:srgbClr val="FFB193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1824CE-ACDD-1BE5-530B-25F4FAED5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227798"/>
              </p:ext>
            </p:extLst>
          </p:nvPr>
        </p:nvGraphicFramePr>
        <p:xfrm>
          <a:off x="6898867" y="450377"/>
          <a:ext cx="2407179" cy="5912400"/>
        </p:xfrm>
        <a:graphic>
          <a:graphicData uri="http://schemas.openxmlformats.org/drawingml/2006/table">
            <a:tbl>
              <a:tblPr>
                <a:tableStyleId>{433038BF-ECFE-4FEC-8A85-E7061CC62139}</a:tableStyleId>
              </a:tblPr>
              <a:tblGrid>
                <a:gridCol w="2407179">
                  <a:extLst>
                    <a:ext uri="{9D8B030D-6E8A-4147-A177-3AD203B41FA5}">
                      <a16:colId xmlns:a16="http://schemas.microsoft.com/office/drawing/2014/main" val="3212250973"/>
                    </a:ext>
                  </a:extLst>
                </a:gridCol>
              </a:tblGrid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86317"/>
                  </a:ext>
                </a:extLst>
              </a:tr>
              <a:tr h="15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Birth_Year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332773"/>
                  </a:ext>
                </a:extLst>
              </a:tr>
              <a:tr h="163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461550"/>
                  </a:ext>
                </a:extLst>
              </a:tr>
              <a:tr h="15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Education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06533"/>
                  </a:ext>
                </a:extLst>
              </a:tr>
              <a:tr h="163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Marital_Status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96968"/>
                  </a:ext>
                </a:extLst>
              </a:tr>
              <a:tr h="15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Income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252344"/>
                  </a:ext>
                </a:extLst>
              </a:tr>
              <a:tr h="1639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Kids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79681"/>
                  </a:ext>
                </a:extLst>
              </a:tr>
              <a:tr h="15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Teens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84123"/>
                  </a:ext>
                </a:extLst>
              </a:tr>
              <a:tr h="15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42644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Recency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428063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MntWines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65214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MntFruits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188126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MntMeatProducts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3156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MntFishProducts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54429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MntSweetProducts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689240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MntGoldProds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981172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NumDealsPurchases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01353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NumWebPurchases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80450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NumCatalogPurchases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582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NumStorePurchases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90019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NumWebVisitsMonth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41231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AcceptedCmp3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64815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AcceptedCmp4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638523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AcceptedCmp5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478479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AcceptedCmp1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973675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AcceptedCmp2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10262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Complain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86801"/>
                  </a:ext>
                </a:extLst>
              </a:tr>
              <a:tr h="2186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Response</a:t>
                      </a:r>
                    </a:p>
                  </a:txBody>
                  <a:tcPr marL="9525" marR="9525" marT="9525" marB="0" anchor="b">
                    <a:solidFill>
                      <a:srgbClr val="48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350935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1E6254-28DD-C1C7-CFD7-3228610CEC92}"/>
              </a:ext>
            </a:extLst>
          </p:cNvPr>
          <p:cNvSpPr/>
          <p:nvPr/>
        </p:nvSpPr>
        <p:spPr>
          <a:xfrm>
            <a:off x="7160347" y="4833676"/>
            <a:ext cx="1884217" cy="1237210"/>
          </a:xfrm>
          <a:prstGeom prst="roundRect">
            <a:avLst/>
          </a:prstGeom>
          <a:noFill/>
          <a:ln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186EFB-0FFF-A21A-F500-AB977BEAF6A2}"/>
              </a:ext>
            </a:extLst>
          </p:cNvPr>
          <p:cNvSpPr/>
          <p:nvPr/>
        </p:nvSpPr>
        <p:spPr>
          <a:xfrm>
            <a:off x="7160347" y="6136058"/>
            <a:ext cx="1884217" cy="281682"/>
          </a:xfrm>
          <a:prstGeom prst="roundRect">
            <a:avLst/>
          </a:prstGeom>
          <a:noFill/>
          <a:ln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6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>
          <a:extLst>
            <a:ext uri="{FF2B5EF4-FFF2-40B4-BE49-F238E27FC236}">
              <a16:creationId xmlns:a16="http://schemas.microsoft.com/office/drawing/2014/main" id="{4CE92353-3528-0033-CC51-603995F74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1">
            <a:extLst>
              <a:ext uri="{FF2B5EF4-FFF2-40B4-BE49-F238E27FC236}">
                <a16:creationId xmlns:a16="http://schemas.microsoft.com/office/drawing/2014/main" id="{D5EA6888-8852-669F-A54B-421FE5F31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899" y="213008"/>
            <a:ext cx="9004125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Cleaning &amp; Statistical Tests</a:t>
            </a:r>
            <a:endParaRPr dirty="0"/>
          </a:p>
        </p:txBody>
      </p:sp>
      <p:sp>
        <p:nvSpPr>
          <p:cNvPr id="609" name="Google Shape;609;p31">
            <a:extLst>
              <a:ext uri="{FF2B5EF4-FFF2-40B4-BE49-F238E27FC236}">
                <a16:creationId xmlns:a16="http://schemas.microsoft.com/office/drawing/2014/main" id="{56E6FC93-C177-C156-F9DA-7B04460A2D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63797" y="135864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Missing Data</a:t>
            </a:r>
            <a:endParaRPr dirty="0"/>
          </a:p>
        </p:txBody>
      </p:sp>
      <p:sp>
        <p:nvSpPr>
          <p:cNvPr id="610" name="Google Shape;610;p31">
            <a:extLst>
              <a:ext uri="{FF2B5EF4-FFF2-40B4-BE49-F238E27FC236}">
                <a16:creationId xmlns:a16="http://schemas.microsoft.com/office/drawing/2014/main" id="{2D39BA93-4562-858D-AE53-6094AB006D7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63829" y="1923096"/>
            <a:ext cx="3497400" cy="154654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spcAft>
                <a:spcPts val="1600"/>
              </a:spcAft>
              <a:buSzPts val="1018"/>
            </a:pPr>
            <a:r>
              <a:rPr lang="en" sz="2200" dirty="0"/>
              <a:t>Mix tool use</a:t>
            </a:r>
          </a:p>
          <a:p>
            <a:pPr marL="342900" indent="-342900">
              <a:spcAft>
                <a:spcPts val="1600"/>
              </a:spcAft>
              <a:buSzPts val="1018"/>
            </a:pPr>
            <a:r>
              <a:rPr lang="en" sz="2200" dirty="0"/>
              <a:t>Missing data for ‘income’</a:t>
            </a:r>
            <a:endParaRPr sz="2200" dirty="0"/>
          </a:p>
        </p:txBody>
      </p:sp>
      <p:sp>
        <p:nvSpPr>
          <p:cNvPr id="611" name="Google Shape;611;p31">
            <a:extLst>
              <a:ext uri="{FF2B5EF4-FFF2-40B4-BE49-F238E27FC236}">
                <a16:creationId xmlns:a16="http://schemas.microsoft.com/office/drawing/2014/main" id="{29617042-A045-1B39-F923-824D64DB29D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44171" y="3347704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Quality</a:t>
            </a:r>
            <a:endParaRPr dirty="0"/>
          </a:p>
        </p:txBody>
      </p:sp>
      <p:sp>
        <p:nvSpPr>
          <p:cNvPr id="612" name="Google Shape;612;p31">
            <a:extLst>
              <a:ext uri="{FF2B5EF4-FFF2-40B4-BE49-F238E27FC236}">
                <a16:creationId xmlns:a16="http://schemas.microsoft.com/office/drawing/2014/main" id="{84BED9C2-7A67-B354-31ED-474EB3E7436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044209" y="3912160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spcAft>
                <a:spcPts val="1600"/>
              </a:spcAft>
              <a:buSzPts val="1018"/>
            </a:pPr>
            <a:r>
              <a:rPr lang="en-US" sz="2200" dirty="0"/>
              <a:t>Martial Status</a:t>
            </a:r>
          </a:p>
          <a:p>
            <a:pPr marL="342900" indent="-342900">
              <a:spcAft>
                <a:spcPts val="1600"/>
              </a:spcAft>
              <a:buSzPts val="1018"/>
            </a:pPr>
            <a:r>
              <a:rPr lang="en-US" sz="2200" dirty="0"/>
              <a:t>Education (2n Cycle &amp; Basic)</a:t>
            </a:r>
          </a:p>
        </p:txBody>
      </p:sp>
      <p:sp>
        <p:nvSpPr>
          <p:cNvPr id="613" name="Google Shape;613;p31">
            <a:extLst>
              <a:ext uri="{FF2B5EF4-FFF2-40B4-BE49-F238E27FC236}">
                <a16:creationId xmlns:a16="http://schemas.microsoft.com/office/drawing/2014/main" id="{DA060E92-792F-D992-E1EF-58000BDB772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063724" y="509813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</a:t>
            </a:r>
            <a:endParaRPr dirty="0"/>
          </a:p>
        </p:txBody>
      </p:sp>
      <p:sp>
        <p:nvSpPr>
          <p:cNvPr id="614" name="Google Shape;614;p31">
            <a:extLst>
              <a:ext uri="{FF2B5EF4-FFF2-40B4-BE49-F238E27FC236}">
                <a16:creationId xmlns:a16="http://schemas.microsoft.com/office/drawing/2014/main" id="{C38FD83F-82BD-FF0F-3D05-03CBBD360A8D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1063768" y="5542672"/>
            <a:ext cx="3382502" cy="154392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spcAft>
                <a:spcPts val="1600"/>
              </a:spcAft>
              <a:buSzPts val="1018"/>
            </a:pPr>
            <a:r>
              <a:rPr lang="en-US" sz="2200" dirty="0"/>
              <a:t>Dash vs Slash</a:t>
            </a:r>
          </a:p>
          <a:p>
            <a:pPr marL="342900" indent="-342900">
              <a:spcAft>
                <a:spcPts val="1600"/>
              </a:spcAft>
              <a:buSzPts val="1018"/>
            </a:pPr>
            <a:r>
              <a:rPr lang="en-US" sz="2200" dirty="0"/>
              <a:t>European style vs American</a:t>
            </a:r>
            <a:endParaRPr sz="2200" dirty="0"/>
          </a:p>
        </p:txBody>
      </p:sp>
      <p:sp>
        <p:nvSpPr>
          <p:cNvPr id="616" name="Google Shape;616;p31">
            <a:extLst>
              <a:ext uri="{FF2B5EF4-FFF2-40B4-BE49-F238E27FC236}">
                <a16:creationId xmlns:a16="http://schemas.microsoft.com/office/drawing/2014/main" id="{50229966-935E-F0DC-6B84-EFC45B7EBA1D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116718" y="135864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Statistical Tests</a:t>
            </a:r>
            <a:endParaRPr dirty="0"/>
          </a:p>
        </p:txBody>
      </p:sp>
      <p:sp>
        <p:nvSpPr>
          <p:cNvPr id="617" name="Google Shape;617;p31">
            <a:extLst>
              <a:ext uri="{FF2B5EF4-FFF2-40B4-BE49-F238E27FC236}">
                <a16:creationId xmlns:a16="http://schemas.microsoft.com/office/drawing/2014/main" id="{F771D2DB-FEBA-F09A-D6B8-380BFD8E3B01}"/>
              </a:ext>
            </a:extLst>
          </p:cNvPr>
          <p:cNvSpPr/>
          <p:nvPr/>
        </p:nvSpPr>
        <p:spPr>
          <a:xfrm>
            <a:off x="444663" y="146844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8" name="Google Shape;618;p31">
            <a:extLst>
              <a:ext uri="{FF2B5EF4-FFF2-40B4-BE49-F238E27FC236}">
                <a16:creationId xmlns:a16="http://schemas.microsoft.com/office/drawing/2014/main" id="{B1508E25-F0C0-1199-2245-7E57C0054B21}"/>
              </a:ext>
            </a:extLst>
          </p:cNvPr>
          <p:cNvSpPr/>
          <p:nvPr/>
        </p:nvSpPr>
        <p:spPr>
          <a:xfrm>
            <a:off x="444663" y="513805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9" name="Google Shape;619;p31">
            <a:extLst>
              <a:ext uri="{FF2B5EF4-FFF2-40B4-BE49-F238E27FC236}">
                <a16:creationId xmlns:a16="http://schemas.microsoft.com/office/drawing/2014/main" id="{35FB820D-6909-97A3-93CC-C48FB1577EAB}"/>
              </a:ext>
            </a:extLst>
          </p:cNvPr>
          <p:cNvSpPr/>
          <p:nvPr/>
        </p:nvSpPr>
        <p:spPr>
          <a:xfrm>
            <a:off x="436899" y="3457504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20" name="Google Shape;620;p31">
            <a:extLst>
              <a:ext uri="{FF2B5EF4-FFF2-40B4-BE49-F238E27FC236}">
                <a16:creationId xmlns:a16="http://schemas.microsoft.com/office/drawing/2014/main" id="{964D01B8-4D83-C8B8-E2A6-8CB6D44114ED}"/>
              </a:ext>
            </a:extLst>
          </p:cNvPr>
          <p:cNvSpPr/>
          <p:nvPr/>
        </p:nvSpPr>
        <p:spPr>
          <a:xfrm>
            <a:off x="4420956" y="1490656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2400"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17B76-C47E-A492-E4A0-74CE9244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71" y="3429000"/>
            <a:ext cx="1087537" cy="2026186"/>
          </a:xfrm>
          <a:prstGeom prst="rect">
            <a:avLst/>
          </a:prstGeom>
          <a:ln>
            <a:solidFill>
              <a:srgbClr val="481F48"/>
            </a:solidFill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B14635-7E9D-C171-C2EB-D835EE289429}"/>
              </a:ext>
            </a:extLst>
          </p:cNvPr>
          <p:cNvSpPr/>
          <p:nvPr/>
        </p:nvSpPr>
        <p:spPr>
          <a:xfrm>
            <a:off x="4446271" y="5237323"/>
            <a:ext cx="670448" cy="299160"/>
          </a:xfrm>
          <a:prstGeom prst="roundRect">
            <a:avLst/>
          </a:prstGeom>
          <a:noFill/>
          <a:ln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5F0E56-97A6-6E82-AF88-36E1F363995B}"/>
              </a:ext>
            </a:extLst>
          </p:cNvPr>
          <p:cNvSpPr/>
          <p:nvPr/>
        </p:nvSpPr>
        <p:spPr>
          <a:xfrm>
            <a:off x="4446271" y="3633507"/>
            <a:ext cx="670447" cy="458560"/>
          </a:xfrm>
          <a:prstGeom prst="roundRect">
            <a:avLst/>
          </a:prstGeom>
          <a:noFill/>
          <a:ln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C5391501-1CC8-CE42-B9D8-74ECAFB405E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25657001"/>
                  </p:ext>
                </p:extLst>
              </p:nvPr>
            </p:nvGraphicFramePr>
            <p:xfrm>
              <a:off x="6199902" y="2075639"/>
              <a:ext cx="5555199" cy="439339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C5391501-1CC8-CE42-B9D8-74ECAFB405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9902" y="2075639"/>
                <a:ext cx="5555199" cy="43933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57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/>
          <p:cNvSpPr txBox="1">
            <a:spLocks noGrp="1"/>
          </p:cNvSpPr>
          <p:nvPr>
            <p:ph type="title"/>
          </p:nvPr>
        </p:nvSpPr>
        <p:spPr>
          <a:xfrm>
            <a:off x="8903891" y="257478"/>
            <a:ext cx="3754653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Age VS Income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15E2A-7908-0B8A-777D-7F413216B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20" y="809579"/>
            <a:ext cx="7772400" cy="50081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BB3C203-477D-1AB7-6324-E127DB706ECF}"/>
              </a:ext>
            </a:extLst>
          </p:cNvPr>
          <p:cNvSpPr/>
          <p:nvPr/>
        </p:nvSpPr>
        <p:spPr>
          <a:xfrm>
            <a:off x="6923821" y="4187238"/>
            <a:ext cx="1404030" cy="1234440"/>
          </a:xfrm>
          <a:prstGeom prst="ellipse">
            <a:avLst/>
          </a:prstGeom>
          <a:noFill/>
          <a:ln w="38100"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EA010-5243-043F-414E-4A05DDCC524F}"/>
              </a:ext>
            </a:extLst>
          </p:cNvPr>
          <p:cNvSpPr/>
          <p:nvPr/>
        </p:nvSpPr>
        <p:spPr>
          <a:xfrm>
            <a:off x="8557146" y="3701264"/>
            <a:ext cx="273954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Instead of being born in 1893, with a teen child, more likely born in 1993</a:t>
            </a:r>
            <a:endParaRPr lang="en-US" sz="2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275CB0-2770-B9EE-ED32-591D0F953852}"/>
              </a:ext>
            </a:extLst>
          </p:cNvPr>
          <p:cNvSpPr/>
          <p:nvPr/>
        </p:nvSpPr>
        <p:spPr>
          <a:xfrm>
            <a:off x="2572144" y="921077"/>
            <a:ext cx="754380" cy="748372"/>
          </a:xfrm>
          <a:prstGeom prst="ellipse">
            <a:avLst/>
          </a:prstGeom>
          <a:noFill/>
          <a:ln w="38100"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9AFA1-7327-1797-48B0-540EF74AA38E}"/>
              </a:ext>
            </a:extLst>
          </p:cNvPr>
          <p:cNvSpPr/>
          <p:nvPr/>
        </p:nvSpPr>
        <p:spPr>
          <a:xfrm>
            <a:off x="3662853" y="1295263"/>
            <a:ext cx="362486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Changed income of $666,666 to $66,666</a:t>
            </a:r>
            <a:endParaRPr lang="en-US" sz="2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6A48FE-2AA0-D25B-139B-6DBAD11814D4}"/>
              </a:ext>
            </a:extLst>
          </p:cNvPr>
          <p:cNvCxnSpPr>
            <a:cxnSpLocks/>
          </p:cNvCxnSpPr>
          <p:nvPr/>
        </p:nvCxnSpPr>
        <p:spPr>
          <a:xfrm flipH="1" flipV="1">
            <a:off x="3455191" y="1421128"/>
            <a:ext cx="707376" cy="107422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410DBE-5626-9181-333F-D9ADB4ABD463}"/>
              </a:ext>
            </a:extLst>
          </p:cNvPr>
          <p:cNvCxnSpPr>
            <a:cxnSpLocks/>
          </p:cNvCxnSpPr>
          <p:nvPr/>
        </p:nvCxnSpPr>
        <p:spPr>
          <a:xfrm flipH="1">
            <a:off x="8142479" y="3957851"/>
            <a:ext cx="660327" cy="229387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23DC0DFE-4636-253F-4341-6AC9E7102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>
            <a:extLst>
              <a:ext uri="{FF2B5EF4-FFF2-40B4-BE49-F238E27FC236}">
                <a16:creationId xmlns:a16="http://schemas.microsoft.com/office/drawing/2014/main" id="{B8317498-8106-9028-4E7F-C0929D4E54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Analysis</a:t>
            </a:r>
            <a:endParaRPr sz="5500"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C8D220BC-FF76-FCFE-F524-717544FD967C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817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C5952FB7-9CE0-9B10-61BF-613BDA20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>
            <a:extLst>
              <a:ext uri="{FF2B5EF4-FFF2-40B4-BE49-F238E27FC236}">
                <a16:creationId xmlns:a16="http://schemas.microsoft.com/office/drawing/2014/main" id="{1E945D93-C983-62B3-ECAF-9E22DECAA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23264" y="558300"/>
            <a:ext cx="420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Age VS Income</a:t>
            </a:r>
            <a:endParaRPr sz="4500" dirty="0"/>
          </a:p>
        </p:txBody>
      </p:sp>
      <p:sp>
        <p:nvSpPr>
          <p:cNvPr id="578" name="Google Shape;578;p27">
            <a:extLst>
              <a:ext uri="{FF2B5EF4-FFF2-40B4-BE49-F238E27FC236}">
                <a16:creationId xmlns:a16="http://schemas.microsoft.com/office/drawing/2014/main" id="{68E45AF1-19BF-2F56-3ADC-2219CAE78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7220" y="5464007"/>
            <a:ext cx="9555000" cy="106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Most people’s income in below 100,000 so marketing should target incomes below that level. The largest cluster is people between 45 and 75 with an income between $40,000 and $80,000.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3B9B8-AF66-A41D-D671-B8F3188A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91" y="331994"/>
            <a:ext cx="8363879" cy="467939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79FB5F1-6E8A-F517-E4B7-2ACD751040BF}"/>
              </a:ext>
            </a:extLst>
          </p:cNvPr>
          <p:cNvSpPr/>
          <p:nvPr/>
        </p:nvSpPr>
        <p:spPr>
          <a:xfrm>
            <a:off x="1539434" y="1145894"/>
            <a:ext cx="2963118" cy="1886673"/>
          </a:xfrm>
          <a:prstGeom prst="ellipse">
            <a:avLst/>
          </a:prstGeom>
          <a:noFill/>
          <a:ln w="38100"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85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7A6AE30E-8C36-4E7D-B10A-ACF8136E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>
            <a:extLst>
              <a:ext uri="{FF2B5EF4-FFF2-40B4-BE49-F238E27FC236}">
                <a16:creationId xmlns:a16="http://schemas.microsoft.com/office/drawing/2014/main" id="{DD19D06D-97C0-C984-3315-037EA9E75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48213" y="-218100"/>
            <a:ext cx="3443785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Income, Age, and Type of Purchases</a:t>
            </a:r>
            <a:endParaRPr sz="4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E18117-1591-8C25-4313-3CB68606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10" y="407441"/>
            <a:ext cx="8613003" cy="60752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45CACC-9485-0593-8B48-4C13DDA6C04F}"/>
              </a:ext>
            </a:extLst>
          </p:cNvPr>
          <p:cNvSpPr/>
          <p:nvPr/>
        </p:nvSpPr>
        <p:spPr>
          <a:xfrm>
            <a:off x="8592378" y="4193498"/>
            <a:ext cx="273954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Weakest</a:t>
            </a:r>
            <a:r>
              <a:rPr lang="en-US" sz="2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relationships</a:t>
            </a:r>
            <a:endParaRPr lang="en-US" sz="2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E24332-90DF-4AA9-3A67-47841961A6FE}"/>
              </a:ext>
            </a:extLst>
          </p:cNvPr>
          <p:cNvCxnSpPr>
            <a:cxnSpLocks/>
          </p:cNvCxnSpPr>
          <p:nvPr/>
        </p:nvCxnSpPr>
        <p:spPr>
          <a:xfrm flipH="1">
            <a:off x="2753139" y="3008019"/>
            <a:ext cx="846484" cy="2369051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66F064-2BFC-000C-ED57-E29B10205E58}"/>
              </a:ext>
            </a:extLst>
          </p:cNvPr>
          <p:cNvCxnSpPr>
            <a:cxnSpLocks/>
          </p:cNvCxnSpPr>
          <p:nvPr/>
        </p:nvCxnSpPr>
        <p:spPr>
          <a:xfrm flipH="1">
            <a:off x="7891670" y="4810539"/>
            <a:ext cx="856543" cy="447261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55D9A5-BDE7-B3DB-D30C-9BE12F3E7D24}"/>
              </a:ext>
            </a:extLst>
          </p:cNvPr>
          <p:cNvCxnSpPr>
            <a:cxnSpLocks/>
          </p:cNvCxnSpPr>
          <p:nvPr/>
        </p:nvCxnSpPr>
        <p:spPr>
          <a:xfrm flipH="1" flipV="1">
            <a:off x="8461513" y="1981200"/>
            <a:ext cx="566530" cy="2358438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D78754C-E6F1-7F2E-C3F1-0AD02A1E259A}"/>
              </a:ext>
            </a:extLst>
          </p:cNvPr>
          <p:cNvSpPr/>
          <p:nvPr/>
        </p:nvSpPr>
        <p:spPr>
          <a:xfrm>
            <a:off x="2405616" y="2238578"/>
            <a:ext cx="273954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Strongest Relationship</a:t>
            </a:r>
            <a:endParaRPr lang="en-US" sz="2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72AA49-7CA2-4F00-27DB-6561DC7D6C05}"/>
              </a:ext>
            </a:extLst>
          </p:cNvPr>
          <p:cNvCxnSpPr>
            <a:cxnSpLocks/>
          </p:cNvCxnSpPr>
          <p:nvPr/>
        </p:nvCxnSpPr>
        <p:spPr>
          <a:xfrm flipH="1" flipV="1">
            <a:off x="2753139" y="2345635"/>
            <a:ext cx="387626" cy="198782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4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14C1-F56E-C99C-3A6F-8E845B1D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350" y="509800"/>
            <a:ext cx="4200000" cy="1936220"/>
          </a:xfrm>
        </p:spPr>
        <p:txBody>
          <a:bodyPr>
            <a:normAutofit/>
          </a:bodyPr>
          <a:lstStyle/>
          <a:p>
            <a:r>
              <a:rPr lang="en-US" sz="4500" dirty="0"/>
              <a:t>Matrix Heat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D7109-1C68-5CBA-D658-CDD891900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181" y="2800350"/>
            <a:ext cx="3844338" cy="2671450"/>
          </a:xfrm>
        </p:spPr>
        <p:txBody>
          <a:bodyPr/>
          <a:lstStyle/>
          <a:p>
            <a:r>
              <a:rPr lang="en-US" dirty="0"/>
              <a:t>Higher income correlates to more web purchases</a:t>
            </a:r>
          </a:p>
          <a:p>
            <a:r>
              <a:rPr lang="en-US" dirty="0"/>
              <a:t>High income correlates to lower web visits</a:t>
            </a:r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50AFE-B6A3-F902-B892-0DEE269E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" y="333195"/>
            <a:ext cx="6929072" cy="619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2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531EC8-D19B-7EF2-C183-3E8268D5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37"/>
          <a:stretch>
            <a:fillRect/>
          </a:stretch>
        </p:blipFill>
        <p:spPr>
          <a:xfrm>
            <a:off x="192222" y="1664684"/>
            <a:ext cx="5934290" cy="4071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C351B7-CE84-6071-D9E6-72DC2F56D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364" y="1664684"/>
            <a:ext cx="5779636" cy="40717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F772E75-90D1-A045-2707-D71ED6A10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76" y="0"/>
            <a:ext cx="12092796" cy="1936220"/>
          </a:xfrm>
        </p:spPr>
        <p:txBody>
          <a:bodyPr>
            <a:normAutofit/>
          </a:bodyPr>
          <a:lstStyle/>
          <a:p>
            <a:r>
              <a:rPr lang="en-US" sz="4500" dirty="0"/>
              <a:t>Web VS Catalog Shopping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C827BC-CED9-BE92-24F2-CE39939E60D7}"/>
              </a:ext>
            </a:extLst>
          </p:cNvPr>
          <p:cNvSpPr/>
          <p:nvPr/>
        </p:nvSpPr>
        <p:spPr>
          <a:xfrm>
            <a:off x="6334962" y="1956097"/>
            <a:ext cx="2739542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108049-2275-F3FF-0083-DA396E0F1CF7}"/>
              </a:ext>
            </a:extLst>
          </p:cNvPr>
          <p:cNvSpPr/>
          <p:nvPr/>
        </p:nvSpPr>
        <p:spPr>
          <a:xfrm>
            <a:off x="9866853" y="1956098"/>
            <a:ext cx="2739542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333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1A7716-07C3-6F71-3647-2D31DF2EED93}"/>
              </a:ext>
            </a:extLst>
          </p:cNvPr>
          <p:cNvSpPr/>
          <p:nvPr/>
        </p:nvSpPr>
        <p:spPr>
          <a:xfrm>
            <a:off x="8124700" y="1956098"/>
            <a:ext cx="2739542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334</a:t>
            </a:r>
          </a:p>
        </p:txBody>
      </p:sp>
    </p:spTree>
    <p:extLst>
      <p:ext uri="{BB962C8B-B14F-4D97-AF65-F5344CB8AC3E}">
        <p14:creationId xmlns:p14="http://schemas.microsoft.com/office/powerpoint/2010/main" val="3686974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DFBD96BD-189D-662B-A350-85C82E8B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>
            <a:extLst>
              <a:ext uri="{FF2B5EF4-FFF2-40B4-BE49-F238E27FC236}">
                <a16:creationId xmlns:a16="http://schemas.microsoft.com/office/drawing/2014/main" id="{21333880-B52E-1202-87D7-2B27742BA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6286" y="-118367"/>
            <a:ext cx="420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Marital Status VS Education VS </a:t>
            </a:r>
            <a:br>
              <a:rPr lang="en" sz="4500" dirty="0"/>
            </a:br>
            <a:r>
              <a:rPr lang="en" sz="4500" dirty="0"/>
              <a:t>Response</a:t>
            </a:r>
            <a:endParaRPr sz="45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2E741C-3BAB-6084-3D91-36DCE2D10434}"/>
              </a:ext>
            </a:extLst>
          </p:cNvPr>
          <p:cNvSpPr/>
          <p:nvPr/>
        </p:nvSpPr>
        <p:spPr>
          <a:xfrm>
            <a:off x="3886200" y="3429000"/>
            <a:ext cx="1211580" cy="973007"/>
          </a:xfrm>
          <a:prstGeom prst="roundRect">
            <a:avLst/>
          </a:prstGeom>
          <a:noFill/>
          <a:ln w="57150">
            <a:solidFill>
              <a:srgbClr val="FFB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66219F-7BEC-C587-9861-651155494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74" y="402731"/>
            <a:ext cx="4864261" cy="6052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77789A-31ED-D9AD-08D9-4D6D74BB6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477" y="402731"/>
            <a:ext cx="2485887" cy="60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05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192E-A8F4-426D-20A4-8FB89660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DC60A78-A0CE-B0A6-F270-C3F7ECB0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77" y="841884"/>
            <a:ext cx="7772400" cy="5174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2BD82-7ABE-A8D6-7A0B-AA621280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311" y="1492779"/>
            <a:ext cx="4200000" cy="1936220"/>
          </a:xfrm>
        </p:spPr>
        <p:txBody>
          <a:bodyPr>
            <a:normAutofit/>
          </a:bodyPr>
          <a:lstStyle/>
          <a:p>
            <a:r>
              <a:rPr lang="en-US" sz="4500" dirty="0"/>
              <a:t>Wine Spending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F7DFC-7897-C542-F1B6-18DCC5C3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9311" y="3428999"/>
            <a:ext cx="3844338" cy="2671450"/>
          </a:xfrm>
        </p:spPr>
        <p:txBody>
          <a:bodyPr/>
          <a:lstStyle/>
          <a:p>
            <a:r>
              <a:rPr lang="en-US" dirty="0"/>
              <a:t>People who buy wine are more likely to response to campaigns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C8343-0436-9DB2-4A4D-C3A7C84E08BA}"/>
              </a:ext>
            </a:extLst>
          </p:cNvPr>
          <p:cNvSpPr/>
          <p:nvPr/>
        </p:nvSpPr>
        <p:spPr>
          <a:xfrm>
            <a:off x="3318376" y="2154496"/>
            <a:ext cx="273954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Higher median &amp; interquartile range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7C598D-D3E4-BB2D-E54C-7D01358CA364}"/>
              </a:ext>
            </a:extLst>
          </p:cNvPr>
          <p:cNvCxnSpPr>
            <a:cxnSpLocks/>
          </p:cNvCxnSpPr>
          <p:nvPr/>
        </p:nvCxnSpPr>
        <p:spPr>
          <a:xfrm>
            <a:off x="5278056" y="2923937"/>
            <a:ext cx="817944" cy="952324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AF8EFD-F84C-60D2-BD3F-5A8E73C3A833}"/>
              </a:ext>
            </a:extLst>
          </p:cNvPr>
          <p:cNvCxnSpPr>
            <a:cxnSpLocks/>
          </p:cNvCxnSpPr>
          <p:nvPr/>
        </p:nvCxnSpPr>
        <p:spPr>
          <a:xfrm>
            <a:off x="5291293" y="2923937"/>
            <a:ext cx="766625" cy="131779"/>
          </a:xfrm>
          <a:prstGeom prst="straightConnector1">
            <a:avLst/>
          </a:prstGeom>
          <a:ln w="38100">
            <a:solidFill>
              <a:srgbClr val="FFB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97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EE3C-38E9-E647-F905-3C6A5ADF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B5E1-3B8B-0B68-FDAD-8A6CC29F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700" y="1492780"/>
            <a:ext cx="4200000" cy="1936220"/>
          </a:xfrm>
        </p:spPr>
        <p:txBody>
          <a:bodyPr>
            <a:normAutofit/>
          </a:bodyPr>
          <a:lstStyle/>
          <a:p>
            <a:r>
              <a:rPr lang="en-US" sz="4500" dirty="0"/>
              <a:t>Alone Individuals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42739-9F4E-3C7B-A597-C3ABFA2A1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6911" y="3429000"/>
            <a:ext cx="3844338" cy="2671450"/>
          </a:xfrm>
        </p:spPr>
        <p:txBody>
          <a:bodyPr/>
          <a:lstStyle/>
          <a:p>
            <a:r>
              <a:rPr lang="en-US" dirty="0"/>
              <a:t>Divorced, Single, and Widows have a higher percent of responding to marketing campaigns.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5AB90-ACB1-D86A-EACF-F0696B5D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90" y="757550"/>
            <a:ext cx="7749323" cy="532536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5C19AE-EDC8-8FD2-1785-F1CC4379B185}"/>
              </a:ext>
            </a:extLst>
          </p:cNvPr>
          <p:cNvCxnSpPr>
            <a:cxnSpLocks/>
          </p:cNvCxnSpPr>
          <p:nvPr/>
        </p:nvCxnSpPr>
        <p:spPr>
          <a:xfrm>
            <a:off x="914399" y="2218544"/>
            <a:ext cx="6782512" cy="0"/>
          </a:xfrm>
          <a:prstGeom prst="line">
            <a:avLst/>
          </a:prstGeom>
          <a:ln w="38100">
            <a:solidFill>
              <a:srgbClr val="FFB0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03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2537C5CB-294D-252D-F64B-D0B55C86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>
            <a:extLst>
              <a:ext uri="{FF2B5EF4-FFF2-40B4-BE49-F238E27FC236}">
                <a16:creationId xmlns:a16="http://schemas.microsoft.com/office/drawing/2014/main" id="{2FDCBEAC-6059-8606-B970-CCC3D54EF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934" y="3136976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Conclusion</a:t>
            </a:r>
            <a:endParaRPr sz="5500"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F972DCF1-AE37-49DE-5CAD-108E16CC2CD3}"/>
              </a:ext>
            </a:extLst>
          </p:cNvPr>
          <p:cNvSpPr/>
          <p:nvPr/>
        </p:nvSpPr>
        <p:spPr>
          <a:xfrm>
            <a:off x="1614900" y="945725"/>
            <a:ext cx="182553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62526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Recommendations</a:t>
            </a:r>
            <a:endParaRPr dirty="0"/>
          </a:p>
        </p:txBody>
      </p:sp>
      <p:sp>
        <p:nvSpPr>
          <p:cNvPr id="782" name="Google Shape;782;p40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Online has more people shopping than catalog and a higher success rate than in-person.  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lang="en" dirty="0"/>
          </a:p>
        </p:txBody>
      </p:sp>
      <p:sp>
        <p:nvSpPr>
          <p:cNvPr id="783" name="Google Shape;783;p40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Online</a:t>
            </a:r>
            <a:endParaRPr dirty="0"/>
          </a:p>
        </p:txBody>
      </p:sp>
      <p:sp>
        <p:nvSpPr>
          <p:cNvPr id="784" name="Google Shape;784;p40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Focus on single serving food products as alone people are 7% more likely to response to campaigns</a:t>
            </a:r>
            <a:endParaRPr dirty="0"/>
          </a:p>
        </p:txBody>
      </p:sp>
      <p:sp>
        <p:nvSpPr>
          <p:cNvPr id="785" name="Google Shape;785;p40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People Alone</a:t>
            </a:r>
            <a:endParaRPr dirty="0"/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101 out of 486 PhD educated shoppers participated in the campaign</a:t>
            </a:r>
            <a:endParaRPr dirty="0"/>
          </a:p>
        </p:txBody>
      </p:sp>
      <p:sp>
        <p:nvSpPr>
          <p:cNvPr id="787" name="Google Shape;787;p40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PhD</a:t>
            </a:r>
            <a:endParaRPr dirty="0"/>
          </a:p>
        </p:txBody>
      </p:sp>
      <p:sp>
        <p:nvSpPr>
          <p:cNvPr id="788" name="Google Shape;788;p40"/>
          <p:cNvSpPr/>
          <p:nvPr/>
        </p:nvSpPr>
        <p:spPr>
          <a:xfrm>
            <a:off x="1886230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9" name="Google Shape;789;p40"/>
          <p:cNvSpPr/>
          <p:nvPr/>
        </p:nvSpPr>
        <p:spPr>
          <a:xfrm>
            <a:off x="566505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443875" y="2144675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6"/>
          <p:cNvSpPr txBox="1">
            <a:spLocks noGrp="1"/>
          </p:cNvSpPr>
          <p:nvPr>
            <p:ph type="title"/>
          </p:nvPr>
        </p:nvSpPr>
        <p:spPr>
          <a:xfrm>
            <a:off x="4524300" y="435120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932" name="Google Shape;932;p46"/>
          <p:cNvSpPr txBox="1">
            <a:spLocks noGrp="1"/>
          </p:cNvSpPr>
          <p:nvPr>
            <p:ph type="subTitle" idx="1"/>
          </p:nvPr>
        </p:nvSpPr>
        <p:spPr>
          <a:xfrm>
            <a:off x="4780228" y="1885389"/>
            <a:ext cx="6143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933" name="Google Shape;933;p46"/>
          <p:cNvSpPr txBox="1">
            <a:spLocks noGrp="1"/>
          </p:cNvSpPr>
          <p:nvPr>
            <p:ph type="body" idx="2"/>
          </p:nvPr>
        </p:nvSpPr>
        <p:spPr>
          <a:xfrm>
            <a:off x="4780228" y="2486027"/>
            <a:ext cx="6143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maryannagarifo@gmail.com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Legally Blonde We Did It GIF - Legally Blonde We Did It Graduation -  Discover &amp; Share GIFs">
            <a:extLst>
              <a:ext uri="{FF2B5EF4-FFF2-40B4-BE49-F238E27FC236}">
                <a16:creationId xmlns:a16="http://schemas.microsoft.com/office/drawing/2014/main" id="{6EF1B642-FE59-4E42-A621-B2578A334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275" y="3168686"/>
            <a:ext cx="7936910" cy="351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481F48"/>
      </a:dk1>
      <a:lt1>
        <a:srgbClr val="FCECDE"/>
      </a:lt1>
      <a:dk2>
        <a:srgbClr val="0B032D"/>
      </a:dk2>
      <a:lt2>
        <a:srgbClr val="EEEEEE"/>
      </a:lt2>
      <a:accent1>
        <a:srgbClr val="0B032D"/>
      </a:accent1>
      <a:accent2>
        <a:srgbClr val="481F48"/>
      </a:accent2>
      <a:accent3>
        <a:srgbClr val="843B62"/>
      </a:accent3>
      <a:accent4>
        <a:srgbClr val="F67E7D"/>
      </a:accent4>
      <a:accent5>
        <a:srgbClr val="FFB997"/>
      </a:accent5>
      <a:accent6>
        <a:srgbClr val="FB9C8A"/>
      </a:accent6>
      <a:hlink>
        <a:srgbClr val="F67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5642</TotalTime>
  <Words>442</Words>
  <Application>Microsoft Macintosh PowerPoint</Application>
  <PresentationFormat>Widescreen</PresentationFormat>
  <Paragraphs>115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Wingdings</vt:lpstr>
      <vt:lpstr>Poppins ExtraBold</vt:lpstr>
      <vt:lpstr>Poppins Light</vt:lpstr>
      <vt:lpstr>Arial</vt:lpstr>
      <vt:lpstr>Aptos Narrow</vt:lpstr>
      <vt:lpstr>Calibri</vt:lpstr>
      <vt:lpstr>Poppins</vt:lpstr>
      <vt:lpstr>SlidesMania Template</vt:lpstr>
      <vt:lpstr>Retail Analysis Capstone </vt:lpstr>
      <vt:lpstr>Hello!  I’m Mary Anna</vt:lpstr>
      <vt:lpstr>Agenda</vt:lpstr>
      <vt:lpstr>Objective</vt:lpstr>
      <vt:lpstr>62,748</vt:lpstr>
      <vt:lpstr>Methodology</vt:lpstr>
      <vt:lpstr>Cleaning &amp; Statistical Tests</vt:lpstr>
      <vt:lpstr>Age VS Income</vt:lpstr>
      <vt:lpstr>Analysis</vt:lpstr>
      <vt:lpstr>Age VS Income</vt:lpstr>
      <vt:lpstr>Income, Age, and Type of Purchases</vt:lpstr>
      <vt:lpstr>Matrix Heat Map</vt:lpstr>
      <vt:lpstr>Web VS Catalog Shopping</vt:lpstr>
      <vt:lpstr>Marital Status VS Education VS  Response</vt:lpstr>
      <vt:lpstr>Wine Spending</vt:lpstr>
      <vt:lpstr>Alone Individuals</vt:lpstr>
      <vt:lpstr>Conclusion</vt:lpstr>
      <vt:lpstr>Recommendations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Mary Anna Garifo</cp:lastModifiedBy>
  <cp:revision>22</cp:revision>
  <dcterms:modified xsi:type="dcterms:W3CDTF">2026-05-28T18:09:44Z</dcterms:modified>
</cp:coreProperties>
</file>